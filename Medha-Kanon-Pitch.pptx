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8288"/>
            <a:ext cx="2926080" cy="1828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0B981"/>
                </a:solidFill>
                <a:latin typeface="Segoe UI"/>
              </a:rPr>
              <a:t>TEAM KANON  • 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56692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600" b="1" i="0">
                <a:solidFill>
                  <a:srgbClr val="F8FAFC"/>
                </a:solidFill>
                <a:latin typeface="Segoe UI"/>
              </a:rPr>
              <a:t>Medha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30552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D4AF37"/>
                </a:solidFill>
                <a:latin typeface="Segoe UI"/>
              </a:rPr>
              <a:t>AI Blackboard Teacher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24912"/>
            <a:ext cx="53949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94A3B8"/>
                </a:solidFill>
                <a:latin typeface="Segoe UI"/>
              </a:rPr>
              <a:t>Extending college STEM lectures,
stroke by stroke.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56432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10B981"/>
                </a:solidFill>
                <a:latin typeface="Segoe UI"/>
              </a:rPr>
              <a:t>UNIVERSITY &amp; HIGHER-EDUCATION STEM DEPARTMENTS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58768"/>
            <a:ext cx="1216152" cy="786384"/>
          </a:xfrm>
          <a:prstGeom prst="roundRect">
            <a:avLst>
              <a:gd name="adj" fmla="val 8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941063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8FAFC"/>
                </a:solidFill>
                <a:latin typeface="Segoe UI"/>
              </a:rPr>
              <a:t>60 FPS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25196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4A3B8"/>
                </a:solidFill>
                <a:latin typeface="Segoe UI"/>
              </a:rPr>
              <a:t>render target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75688" y="3858768"/>
            <a:ext cx="1216152" cy="786384"/>
          </a:xfrm>
          <a:prstGeom prst="roundRect">
            <a:avLst>
              <a:gd name="adj" fmla="val 8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85416" y="3941063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8FAFC"/>
                </a:solidFill>
                <a:latin typeface="Segoe UI"/>
              </a:rPr>
              <a:t>4–8 GB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85416" y="425196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4A3B8"/>
                </a:solidFill>
                <a:latin typeface="Segoe UI"/>
              </a:rPr>
              <a:t>local RAM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9856" y="3858768"/>
            <a:ext cx="1216152" cy="786384"/>
          </a:xfrm>
          <a:prstGeom prst="roundRect">
            <a:avLst>
              <a:gd name="adj" fmla="val 8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3941063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8FAFC"/>
                </a:solidFill>
                <a:latin typeface="Segoe UI"/>
              </a:rPr>
              <a:t>±150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425196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4A3B8"/>
                </a:solidFill>
                <a:latin typeface="Segoe UI"/>
              </a:rPr>
              <a:t>audio sync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64024" y="3858768"/>
            <a:ext cx="1216152" cy="786384"/>
          </a:xfrm>
          <a:prstGeom prst="roundRect">
            <a:avLst>
              <a:gd name="adj" fmla="val 8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73752" y="3941063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8FAFC"/>
                </a:solidFill>
                <a:latin typeface="Segoe UI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3752" y="425196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4A3B8"/>
                </a:solidFill>
                <a:latin typeface="Segoe UI"/>
              </a:rPr>
              <a:t>offline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109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D4AF37"/>
                </a:solidFill>
                <a:latin typeface="Segoe UI"/>
              </a:rPr>
              <a:t>Professor's Bridge  •  Offline-First  •  Multi-Regional Voice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1520" y="5422392"/>
            <a:ext cx="5120640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1520" y="550468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0B981"/>
                </a:solidFill>
                <a:latin typeface="Segoe UI"/>
              </a:rPr>
              <a:t>TEAM KANON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71500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Pranav N  •  Disha R  •  Soyal  •  Kruthika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11696" y="1097280"/>
            <a:ext cx="4892040" cy="489204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56832" y="1024128"/>
            <a:ext cx="4892040" cy="4892040"/>
          </a:xfrm>
          <a:prstGeom prst="roundRect">
            <a:avLst>
              <a:gd name="adj" fmla="val 4000"/>
            </a:avLst>
          </a:prstGeom>
          <a:solidFill>
            <a:srgbClr val="172742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6821424" y="1847088"/>
            <a:ext cx="4562856" cy="0"/>
          </a:xfrm>
          <a:prstGeom prst="line">
            <a:avLst/>
          </a:prstGeom>
          <a:ln w="762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21424" y="2670048"/>
            <a:ext cx="4562856" cy="0"/>
          </a:xfrm>
          <a:prstGeom prst="line">
            <a:avLst/>
          </a:prstGeom>
          <a:ln w="762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21424" y="3493008"/>
            <a:ext cx="4562856" cy="0"/>
          </a:xfrm>
          <a:prstGeom prst="line">
            <a:avLst/>
          </a:prstGeom>
          <a:ln w="762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21424" y="4315968"/>
            <a:ext cx="4562856" cy="0"/>
          </a:xfrm>
          <a:prstGeom prst="line">
            <a:avLst/>
          </a:prstGeom>
          <a:ln w="762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589520" y="1207008"/>
            <a:ext cx="0" cy="3977640"/>
          </a:xfrm>
          <a:prstGeom prst="line">
            <a:avLst/>
          </a:prstGeom>
          <a:ln w="762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522208" y="1207008"/>
            <a:ext cx="0" cy="3977640"/>
          </a:xfrm>
          <a:prstGeom prst="line">
            <a:avLst/>
          </a:prstGeom>
          <a:ln w="762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454896" y="1207008"/>
            <a:ext cx="0" cy="3977640"/>
          </a:xfrm>
          <a:prstGeom prst="line">
            <a:avLst/>
          </a:prstGeom>
          <a:ln w="762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387584" y="1207008"/>
            <a:ext cx="0" cy="3977640"/>
          </a:xfrm>
          <a:prstGeom prst="line">
            <a:avLst/>
          </a:prstGeom>
          <a:ln w="762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58000" y="117043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10B981"/>
                </a:solidFill>
                <a:latin typeface="Segoe UI"/>
              </a:rPr>
              <a:t>LIVE VECTOR CANVAS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07624" y="1143000"/>
            <a:ext cx="658368" cy="237744"/>
          </a:xfrm>
          <a:prstGeom prst="roundRect">
            <a:avLst>
              <a:gd name="adj" fmla="val 35000"/>
            </a:avLst>
          </a:prstGeom>
          <a:solidFill>
            <a:srgbClr val="0E2A24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07624" y="1143000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10B981"/>
                </a:solidFill>
                <a:latin typeface="Segoe UI"/>
              </a:rPr>
              <a:t>60 FPS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85432" y="1591056"/>
            <a:ext cx="438912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700" b="1" i="0">
                <a:solidFill>
                  <a:srgbClr val="F8FAFC"/>
                </a:solidFill>
                <a:latin typeface="Consolas"/>
              </a:rPr>
              <a:t>F = m 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2212848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0" i="0">
                <a:solidFill>
                  <a:srgbClr val="10B981"/>
                </a:solidFill>
                <a:latin typeface="Consolas"/>
              </a:rPr>
              <a:t>a = F / m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434072" y="3172968"/>
            <a:ext cx="1554480" cy="0"/>
          </a:xfrm>
          <a:prstGeom prst="line">
            <a:avLst/>
          </a:prstGeom>
          <a:ln w="317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/>
          <p:cNvSpPr/>
          <p:nvPr/>
        </p:nvSpPr>
        <p:spPr>
          <a:xfrm rot="5400000">
            <a:off x="8988552" y="3035808"/>
            <a:ext cx="201168" cy="274320"/>
          </a:xfrm>
          <a:prstGeom prst="triangl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88352" y="287121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D4AF37"/>
                </a:solidFill>
                <a:latin typeface="Segoe UI"/>
              </a:rPr>
              <a:t>force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82912" y="2807208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vector
strokes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470001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D4AF37"/>
                </a:solidFill>
                <a:latin typeface="Segoe UI"/>
              </a:rPr>
              <a:t>SYNCHRONIZED NARRATION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76288" y="5440680"/>
            <a:ext cx="77724" cy="109728"/>
          </a:xfrm>
          <a:prstGeom prst="roundRect">
            <a:avLst>
              <a:gd name="adj" fmla="val 45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024420" y="5192148"/>
            <a:ext cx="77724" cy="358259"/>
          </a:xfrm>
          <a:prstGeom prst="roundRect">
            <a:avLst>
              <a:gd name="adj" fmla="val 4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172553" y="5016921"/>
            <a:ext cx="77724" cy="533486"/>
          </a:xfrm>
          <a:prstGeom prst="roundRect">
            <a:avLst>
              <a:gd name="adj" fmla="val 4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320686" y="4966682"/>
            <a:ext cx="77724" cy="583725"/>
          </a:xfrm>
          <a:prstGeom prst="roundRect">
            <a:avLst>
              <a:gd name="adj" fmla="val 45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468819" y="5056249"/>
            <a:ext cx="77724" cy="494158"/>
          </a:xfrm>
          <a:prstGeom prst="roundRect">
            <a:avLst>
              <a:gd name="adj" fmla="val 4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616952" y="5259204"/>
            <a:ext cx="77724" cy="291203"/>
          </a:xfrm>
          <a:prstGeom prst="roundRect">
            <a:avLst>
              <a:gd name="adj" fmla="val 4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765084" y="5365673"/>
            <a:ext cx="77724" cy="184734"/>
          </a:xfrm>
          <a:prstGeom prst="roundRect">
            <a:avLst>
              <a:gd name="adj" fmla="val 45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913217" y="5131315"/>
            <a:ext cx="77724" cy="419092"/>
          </a:xfrm>
          <a:prstGeom prst="roundRect">
            <a:avLst>
              <a:gd name="adj" fmla="val 4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061350" y="4988204"/>
            <a:ext cx="77724" cy="562203"/>
          </a:xfrm>
          <a:prstGeom prst="roundRect">
            <a:avLst>
              <a:gd name="adj" fmla="val 4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209483" y="4978551"/>
            <a:ext cx="77724" cy="571856"/>
          </a:xfrm>
          <a:prstGeom prst="roundRect">
            <a:avLst>
              <a:gd name="adj" fmla="val 45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357616" y="5105204"/>
            <a:ext cx="77724" cy="445203"/>
          </a:xfrm>
          <a:prstGeom prst="roundRect">
            <a:avLst>
              <a:gd name="adj" fmla="val 4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505748" y="5330805"/>
            <a:ext cx="77724" cy="219602"/>
          </a:xfrm>
          <a:prstGeom prst="roundRect">
            <a:avLst>
              <a:gd name="adj" fmla="val 4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653881" y="5292545"/>
            <a:ext cx="77724" cy="257862"/>
          </a:xfrm>
          <a:prstGeom prst="roundRect">
            <a:avLst>
              <a:gd name="adj" fmla="val 45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802014" y="5078229"/>
            <a:ext cx="77724" cy="472178"/>
          </a:xfrm>
          <a:prstGeom prst="roundRect">
            <a:avLst>
              <a:gd name="adj" fmla="val 4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950147" y="4970817"/>
            <a:ext cx="77724" cy="579590"/>
          </a:xfrm>
          <a:prstGeom prst="roundRect">
            <a:avLst>
              <a:gd name="adj" fmla="val 4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098280" y="5001992"/>
            <a:ext cx="77724" cy="548415"/>
          </a:xfrm>
          <a:prstGeom prst="roundRect">
            <a:avLst>
              <a:gd name="adj" fmla="val 45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9246412" y="5162558"/>
            <a:ext cx="77724" cy="387849"/>
          </a:xfrm>
          <a:prstGeom prst="roundRect">
            <a:avLst>
              <a:gd name="adj" fmla="val 4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394545" y="5405157"/>
            <a:ext cx="77724" cy="145250"/>
          </a:xfrm>
          <a:prstGeom prst="roundRect">
            <a:avLst>
              <a:gd name="adj" fmla="val 4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542678" y="5223127"/>
            <a:ext cx="77724" cy="327280"/>
          </a:xfrm>
          <a:prstGeom prst="roundRect">
            <a:avLst>
              <a:gd name="adj" fmla="val 45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690811" y="5034218"/>
            <a:ext cx="77724" cy="516189"/>
          </a:xfrm>
          <a:prstGeom prst="roundRect">
            <a:avLst>
              <a:gd name="adj" fmla="val 4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9838944" y="4965196"/>
            <a:ext cx="77724" cy="585211"/>
          </a:xfrm>
          <a:prstGeom prst="roundRect">
            <a:avLst>
              <a:gd name="adj" fmla="val 4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987076" y="5036418"/>
            <a:ext cx="77724" cy="513989"/>
          </a:xfrm>
          <a:prstGeom prst="roundRect">
            <a:avLst>
              <a:gd name="adj" fmla="val 45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10135209" y="5226878"/>
            <a:ext cx="77724" cy="323529"/>
          </a:xfrm>
          <a:prstGeom prst="roundRect">
            <a:avLst>
              <a:gd name="adj" fmla="val 4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0283342" y="5400961"/>
            <a:ext cx="77724" cy="149446"/>
          </a:xfrm>
          <a:prstGeom prst="roundRect">
            <a:avLst>
              <a:gd name="adj" fmla="val 4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10431475" y="5159156"/>
            <a:ext cx="77724" cy="391251"/>
          </a:xfrm>
          <a:prstGeom prst="roundRect">
            <a:avLst>
              <a:gd name="adj" fmla="val 45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10579608" y="5000386"/>
            <a:ext cx="77724" cy="550021"/>
          </a:xfrm>
          <a:prstGeom prst="roundRect">
            <a:avLst>
              <a:gd name="adj" fmla="val 4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0727740" y="4971481"/>
            <a:ext cx="77724" cy="578926"/>
          </a:xfrm>
          <a:prstGeom prst="roundRect">
            <a:avLst>
              <a:gd name="adj" fmla="val 4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0875873" y="5080967"/>
            <a:ext cx="77724" cy="469440"/>
          </a:xfrm>
          <a:prstGeom prst="roundRect">
            <a:avLst>
              <a:gd name="adj" fmla="val 45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1024006" y="5296550"/>
            <a:ext cx="77724" cy="253857"/>
          </a:xfrm>
          <a:prstGeom prst="roundRect">
            <a:avLst>
              <a:gd name="adj" fmla="val 4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1172139" y="5326714"/>
            <a:ext cx="77724" cy="223693"/>
          </a:xfrm>
          <a:prstGeom prst="roundRect">
            <a:avLst>
              <a:gd name="adj" fmla="val 4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876288" y="5614416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94A3B8"/>
                </a:solidFill>
                <a:latin typeface="Segoe UI"/>
              </a:rPr>
              <a:t>sentence-level speech  •  ±150 ms target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0B981"/>
                </a:solidFill>
                <a:latin typeface="Segoe UI"/>
              </a:rPr>
              <a:t>EXECUTIVE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03504"/>
            <a:ext cx="1092708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8FAFC"/>
                </a:solidFill>
                <a:latin typeface="Segoe UI"/>
              </a:rPr>
              <a:t>The 30-second version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1417320"/>
            <a:ext cx="15544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0" y="6437376"/>
            <a:ext cx="57607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Segoe UI"/>
              </a:rPr>
              <a:t>02 / 24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881360" y="6547104"/>
            <a:ext cx="658368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437376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64748B"/>
                </a:solidFill>
                <a:latin typeface="Segoe UI"/>
              </a:rPr>
              <a:t>Sources: UDISE+ 2025–26; Mordor Intelligence 2025–2030; Medha repository (README, MODELS.md).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37360"/>
            <a:ext cx="5321808" cy="1874519"/>
          </a:xfrm>
          <a:prstGeom prst="roundRect">
            <a:avLst>
              <a:gd name="adj" fmla="val 6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737360"/>
            <a:ext cx="54864" cy="1874519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938528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D4AF37"/>
                </a:solidFill>
                <a:latin typeface="Segoe UI"/>
              </a:rPr>
              <a:t>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212848"/>
            <a:ext cx="47548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F8FAFC"/>
                </a:solidFill>
                <a:latin typeface="Segoe UI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852928"/>
            <a:ext cx="47548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20" b="0" i="0">
                <a:solidFill>
                  <a:srgbClr val="94A3B8"/>
                </a:solidFill>
                <a:latin typeface="Segoe UI"/>
              </a:rPr>
              <a:t>of the live board build-up disappears when the lecture ends.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737360"/>
            <a:ext cx="5321808" cy="1874519"/>
          </a:xfrm>
          <a:prstGeom prst="roundRect">
            <a:avLst>
              <a:gd name="adj" fmla="val 6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737360"/>
            <a:ext cx="54864" cy="187451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938528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0B981"/>
                </a:solidFill>
                <a:latin typeface="Segoe U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212848"/>
            <a:ext cx="47548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F8FAFC"/>
                </a:solidFill>
                <a:latin typeface="Segoe UI"/>
              </a:rPr>
              <a:t>Local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852928"/>
            <a:ext cx="47548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20" b="0" i="0">
                <a:solidFill>
                  <a:srgbClr val="94A3B8"/>
                </a:solidFill>
                <a:latin typeface="Segoe UI"/>
              </a:rPr>
              <a:t>AI blackboard that redraws derivations and narrates every step.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67328"/>
            <a:ext cx="5321808" cy="1874519"/>
          </a:xfrm>
          <a:prstGeom prst="roundRect">
            <a:avLst>
              <a:gd name="adj" fmla="val 6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767328"/>
            <a:ext cx="54864" cy="187451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968496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0B981"/>
                </a:solidFill>
                <a:latin typeface="Segoe UI"/>
              </a:rPr>
              <a:t>MARKET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242816"/>
            <a:ext cx="47548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F8FAFC"/>
                </a:solidFill>
                <a:latin typeface="Segoe UI"/>
              </a:rPr>
              <a:t>$41.01B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882896"/>
            <a:ext cx="47548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20" b="0" i="0">
                <a:solidFill>
                  <a:srgbClr val="94A3B8"/>
                </a:solidFill>
                <a:latin typeface="Segoe UI"/>
              </a:rPr>
              <a:t>global AI-in-education spend projected by 2030 at 42.83% CAGR.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3767328"/>
            <a:ext cx="5321808" cy="1874519"/>
          </a:xfrm>
          <a:prstGeom prst="roundRect">
            <a:avLst>
              <a:gd name="adj" fmla="val 6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3767328"/>
            <a:ext cx="54864" cy="187451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968496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0B981"/>
                </a:solidFill>
                <a:latin typeface="Segoe UI"/>
              </a:rPr>
              <a:t>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242816"/>
            <a:ext cx="47548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F8FAFC"/>
                </a:solidFill>
                <a:latin typeface="Segoe UI"/>
              </a:rPr>
              <a:t>₹0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882896"/>
            <a:ext cx="47548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20" b="0" i="0">
                <a:solidFill>
                  <a:srgbClr val="94A3B8"/>
                </a:solidFill>
                <a:latin typeface="Segoe UI"/>
              </a:rPr>
              <a:t>cloud inference per student on campus; department licensing.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797296"/>
            <a:ext cx="10927080" cy="438912"/>
          </a:xfrm>
          <a:prstGeom prst="roundRect">
            <a:avLst>
              <a:gd name="adj" fmla="val 20000"/>
            </a:avLst>
          </a:prstGeom>
          <a:solidFill>
            <a:srgbClr val="0E2A24"/>
          </a:solidFill>
          <a:ln w="9525">
            <a:solidFill>
              <a:srgbClr val="064E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87044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10B981"/>
                </a:solidFill>
                <a:latin typeface="Segoe UI"/>
              </a:rPr>
              <a:t>Built on a fully local stack: Qwen3  •  BGE-M3  •  BGE reranker  •  Kokoro  •  Docling  •  OpenGL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0B981"/>
                </a:solidFill>
                <a:latin typeface="Segoe U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03504"/>
            <a:ext cx="1092708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8FAFC"/>
                </a:solidFill>
                <a:latin typeface="Segoe UI"/>
              </a:rPr>
              <a:t>The lecture ends. The derivation disappears.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1417320"/>
            <a:ext cx="15544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0" y="6437376"/>
            <a:ext cx="57607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Segoe UI"/>
              </a:rPr>
              <a:t>03 / 24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881360" y="6547104"/>
            <a:ext cx="658368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437376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64748B"/>
                </a:solidFill>
                <a:latin typeface="Segoe UI"/>
              </a:rPr>
              <a:t>Observation from lecture workflows; no external citation required.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37360"/>
            <a:ext cx="5760720" cy="4206240"/>
          </a:xfrm>
          <a:prstGeom prst="roundRect">
            <a:avLst>
              <a:gd name="adj" fmla="val 4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1938528"/>
            <a:ext cx="5303520" cy="1691640"/>
          </a:xfrm>
          <a:prstGeom prst="roundRect">
            <a:avLst>
              <a:gd name="adj" fmla="val 3000"/>
            </a:avLst>
          </a:prstGeom>
          <a:solidFill>
            <a:srgbClr val="0B1220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05740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0B981"/>
                </a:solidFill>
                <a:latin typeface="Segoe UI"/>
              </a:rPr>
              <a:t>DURING 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33172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8FAFC"/>
                </a:solidFill>
                <a:latin typeface="Consolas"/>
              </a:rPr>
              <a:t>F = m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852928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reasoning visible  •  build-up paced with voice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51560" y="3218688"/>
            <a:ext cx="4754880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754880" y="2926080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0B981"/>
                </a:solidFill>
                <a:latin typeface="Segoe UI"/>
              </a:rPr>
              <a:t>LIVE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822191"/>
            <a:ext cx="5303520" cy="1874519"/>
          </a:xfrm>
          <a:prstGeom prst="roundRect">
            <a:avLst>
              <a:gd name="adj" fmla="val 3000"/>
            </a:avLst>
          </a:prstGeom>
          <a:solidFill>
            <a:srgbClr val="0B1220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95020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64748B"/>
                </a:solidFill>
                <a:latin typeface="Segoe UI"/>
              </a:rPr>
              <a:t>AFTER CLASS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22452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334155"/>
                </a:solidFill>
                <a:latin typeface="Segoe UI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34340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Board erased.
Only photos remain.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041648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D4AF37"/>
                </a:solidFill>
                <a:latin typeface="Segoe UI"/>
              </a:rPr>
              <a:t>LOST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8" y="178308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0B981"/>
                </a:solidFill>
                <a:latin typeface="Segoe UI"/>
              </a:rPr>
              <a:t>THREE COMPOUNDING FAILURES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20840" y="2244852"/>
            <a:ext cx="68580" cy="685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2176272"/>
            <a:ext cx="4526280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F8FAFC"/>
                </a:solidFill>
                <a:latin typeface="Segoe UI"/>
              </a:rPr>
              <a:t>Students photograph the final answer, not the reasoning that produced 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3031236"/>
            <a:ext cx="68580" cy="685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2962656"/>
            <a:ext cx="4526280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F8FAFC"/>
                </a:solidFill>
                <a:latin typeface="Segoe UI"/>
              </a:rPr>
              <a:t>Professors spend 10+ hours per week redrawing diagrams and derivations.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3817620"/>
            <a:ext cx="68580" cy="685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3720" y="3749039"/>
            <a:ext cx="4526280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F8FAFC"/>
                </a:solidFill>
                <a:latin typeface="Segoe UI"/>
              </a:rPr>
              <a:t>Recorded lectures are linear; a single step cannot be re-explained in another language.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93408" y="4681728"/>
            <a:ext cx="4754880" cy="987552"/>
          </a:xfrm>
          <a:prstGeom prst="roundRect">
            <a:avLst>
              <a:gd name="adj" fmla="val 5000"/>
            </a:avLst>
          </a:prstGeom>
          <a:solidFill>
            <a:srgbClr val="3A2F14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4791456"/>
            <a:ext cx="43891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D4AF37"/>
                </a:solidFill>
                <a:latin typeface="Segoe UI"/>
              </a:rPr>
              <a:t>The blackboard is the highest-bandwidth teaching surface — and the least persistent.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408" y="5833872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94A3B8"/>
                </a:solidFill>
                <a:latin typeface="Segoe UI"/>
              </a:rPr>
              <a:t>This is the gap Medha closes.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0B981"/>
                </a:solidFill>
                <a:latin typeface="Segoe UI"/>
              </a:rPr>
              <a:t>INFRASTRUCTURE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03504"/>
            <a:ext cx="1092708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8FAFC"/>
                </a:solidFill>
                <a:latin typeface="Segoe UI"/>
              </a:rPr>
              <a:t>Connected enough to adopt. Offline enough to need it.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1417320"/>
            <a:ext cx="15544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0" y="6437376"/>
            <a:ext cx="57607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Segoe UI"/>
              </a:rPr>
              <a:t>04 / 24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881360" y="6547104"/>
            <a:ext cx="658368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437376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64748B"/>
                </a:solidFill>
                <a:latin typeface="Segoe UI"/>
              </a:rPr>
              <a:t>Sources: Ministry of Education / PIB UDISE+ 2025–26 Summary (PRID=2300408); UDISE+ 2025–26 / NIEPA Analysis Table 2.5; ITU Facts and Figures 2024 (27 Nov 2024).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19072"/>
            <a:ext cx="3520440" cy="932688"/>
          </a:xfrm>
          <a:prstGeom prst="roundRect">
            <a:avLst>
              <a:gd name="adj" fmla="val 6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810512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8FAFC"/>
                </a:solidFill>
                <a:latin typeface="Segoe UI"/>
              </a:rPr>
              <a:t>14.67 Lakh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23113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Segoe UI"/>
              </a:rPr>
              <a:t>schools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719072"/>
            <a:ext cx="3520440" cy="932688"/>
          </a:xfrm>
          <a:prstGeom prst="roundRect">
            <a:avLst>
              <a:gd name="adj" fmla="val 6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810512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8FAFC"/>
                </a:solidFill>
                <a:latin typeface="Segoe UI"/>
              </a:rPr>
              <a:t>1.03 Crore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23113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Segoe UI"/>
              </a:rPr>
              <a:t>teachers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719072"/>
            <a:ext cx="3520440" cy="932688"/>
          </a:xfrm>
          <a:prstGeom prst="roundRect">
            <a:avLst>
              <a:gd name="adj" fmla="val 6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810512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8FAFC"/>
                </a:solidFill>
                <a:latin typeface="Segoe UI"/>
              </a:rPr>
              <a:t>24.72 Crore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23113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Segoe UI"/>
              </a:rPr>
              <a:t>enrolled students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907792"/>
            <a:ext cx="5852160" cy="3154680"/>
          </a:xfrm>
          <a:prstGeom prst="roundRect">
            <a:avLst>
              <a:gd name="adj" fmla="val 4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035808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0B981"/>
                </a:solidFill>
                <a:latin typeface="Segoe UI"/>
              </a:rPr>
              <a:t>CAMPUS INFRASTRUCTURE  •  UDISE+ 2025–26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51560" y="5504688"/>
            <a:ext cx="5212080" cy="0"/>
          </a:xfrm>
          <a:prstGeom prst="line">
            <a:avLst/>
          </a:prstGeom>
          <a:ln w="1270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51560" y="5134355"/>
            <a:ext cx="5212080" cy="0"/>
          </a:xfrm>
          <a:prstGeom prst="line">
            <a:avLst/>
          </a:prstGeom>
          <a:ln w="762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32688" y="5061203"/>
            <a:ext cx="109728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4748B"/>
                </a:solidFill>
                <a:latin typeface="Segoe UI"/>
              </a:rPr>
              <a:t>25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51560" y="4764023"/>
            <a:ext cx="5212080" cy="0"/>
          </a:xfrm>
          <a:prstGeom prst="line">
            <a:avLst/>
          </a:prstGeom>
          <a:ln w="762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32688" y="4690871"/>
            <a:ext cx="109728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4748B"/>
                </a:solidFill>
                <a:latin typeface="Segoe UI"/>
              </a:rPr>
              <a:t>50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51560" y="4393692"/>
            <a:ext cx="5212080" cy="0"/>
          </a:xfrm>
          <a:prstGeom prst="line">
            <a:avLst/>
          </a:prstGeom>
          <a:ln w="762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32688" y="4320540"/>
            <a:ext cx="109728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4748B"/>
                </a:solidFill>
                <a:latin typeface="Segoe UI"/>
              </a:rPr>
              <a:t>75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51560" y="4023359"/>
            <a:ext cx="5212080" cy="0"/>
          </a:xfrm>
          <a:prstGeom prst="line">
            <a:avLst/>
          </a:prstGeom>
          <a:ln w="762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32688" y="3950207"/>
            <a:ext cx="109728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650" b="0" i="0">
                <a:solidFill>
                  <a:srgbClr val="64748B"/>
                </a:solidFill>
                <a:latin typeface="Segoe UI"/>
              </a:rPr>
              <a:t>100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65960" y="4469239"/>
            <a:ext cx="658368" cy="1035448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0" y="4158343"/>
            <a:ext cx="93268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0B981"/>
                </a:solidFill>
                <a:latin typeface="Segoe UI"/>
              </a:rPr>
              <a:t>69.9%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9928" y="5614416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19" b="0" i="0">
                <a:solidFill>
                  <a:srgbClr val="94A3B8"/>
                </a:solidFill>
                <a:latin typeface="Segoe UI"/>
              </a:rPr>
              <a:t>Computers available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69080" y="4506272"/>
            <a:ext cx="658368" cy="998415"/>
          </a:xfrm>
          <a:prstGeom prst="roundRect">
            <a:avLst>
              <a:gd name="adj" fmla="val 5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31920" y="4195376"/>
            <a:ext cx="93268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D4AF37"/>
                </a:solidFill>
                <a:latin typeface="Segoe UI"/>
              </a:rPr>
              <a:t>67.4%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13048" y="5614416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19" b="0" i="0">
                <a:solidFill>
                  <a:srgbClr val="94A3B8"/>
                </a:solidFill>
                <a:latin typeface="Segoe UI"/>
              </a:rPr>
              <a:t>Internet connected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5715000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64748B"/>
                </a:solidFill>
                <a:latin typeface="Segoe UI"/>
              </a:rPr>
              <a:t>Computers are more common than connectivity.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75120" y="2907792"/>
            <a:ext cx="4873752" cy="3154680"/>
          </a:xfrm>
          <a:prstGeom prst="roundRect">
            <a:avLst>
              <a:gd name="adj" fmla="val 4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03720" y="3054096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D4AF37"/>
                </a:solidFill>
                <a:latin typeface="Segoe UI"/>
              </a:rPr>
              <a:t>THE GAP IS THE OPPORTUNITY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3310128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D4AF37"/>
                </a:solidFill>
                <a:latin typeface="Segoe UI"/>
              </a:rPr>
              <a:t>32.6%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31152" y="3913632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94A3B8"/>
                </a:solidFill>
                <a:latin typeface="Segoe UI"/>
              </a:rPr>
              <a:t>of campuses lack internet  •  4,77,491 institutions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903720" y="4315968"/>
            <a:ext cx="4407408" cy="146304"/>
          </a:xfrm>
          <a:prstGeom prst="roundRect">
            <a:avLst>
              <a:gd name="adj" fmla="val 4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903720" y="4315968"/>
            <a:ext cx="2970592" cy="146304"/>
          </a:xfrm>
          <a:prstGeom prst="roundRect">
            <a:avLst>
              <a:gd name="adj" fmla="val 4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03720" y="448056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10B981"/>
                </a:solidFill>
                <a:latin typeface="Segoe UI"/>
              </a:rPr>
              <a:t>67.4% connected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0" y="4480560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80" b="1" i="0">
                <a:solidFill>
                  <a:srgbClr val="D4AF37"/>
                </a:solidFill>
                <a:latin typeface="Segoe UI"/>
              </a:rPr>
              <a:t>32.6% not connected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903720" y="4828032"/>
            <a:ext cx="4407408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903720" y="495604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8FAFC"/>
                </a:solidFill>
                <a:latin typeface="Segoe UI"/>
              </a:rPr>
              <a:t>2.6 Billion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31152" y="5248656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94A3B8"/>
                </a:solidFill>
                <a:latin typeface="Segoe UI"/>
              </a:rPr>
              <a:t>people offline in 2024 — 32% of the world, 1.8B rural.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5724144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0B981"/>
                </a:solidFill>
                <a:latin typeface="Segoe UI"/>
              </a:rPr>
              <a:t>Offline is not a fallback. It is the deployment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0B981"/>
                </a:solidFill>
                <a:latin typeface="Segoe U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03504"/>
            <a:ext cx="1092708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8FAFC"/>
                </a:solidFill>
                <a:latin typeface="Segoe UI"/>
              </a:rPr>
              <a:t>A large market growing faster than the tooling.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1417320"/>
            <a:ext cx="15544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0" y="6437376"/>
            <a:ext cx="57607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Segoe UI"/>
              </a:rPr>
              <a:t>05 / 24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881360" y="6547104"/>
            <a:ext cx="658368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437376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64748B"/>
                </a:solidFill>
                <a:latin typeface="Segoe UI"/>
              </a:rPr>
              <a:t>Sources: Mordor Intelligence AI in Education Report 2025–2030; IAMAI–Grant Thornton Bharat Report (Jan 2025); Grand View Research; MarketsandMarkets (Oct 2026).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19072"/>
            <a:ext cx="5321808" cy="1645920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828800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0B981"/>
                </a:solidFill>
                <a:latin typeface="Segoe UI"/>
              </a:rPr>
              <a:t>GLOBAL AI IN EDUCATION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084831"/>
            <a:ext cx="489204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94A3B8"/>
                </a:solidFill>
                <a:latin typeface="Segoe UI"/>
              </a:rPr>
              <a:t>$6.90B</a:t>
            </a:r>
            <a:r>
              <a:rPr sz="2100" b="1" i="0">
                <a:solidFill>
                  <a:srgbClr val="D4AF37"/>
                </a:solidFill>
                <a:latin typeface="Segoe UI"/>
              </a:rPr>
              <a:t>  →  </a:t>
            </a:r>
            <a:r>
              <a:rPr sz="2100" b="1" i="0">
                <a:solidFill>
                  <a:srgbClr val="F8FAFC"/>
                </a:solidFill>
                <a:latin typeface="Segoe UI"/>
              </a:rPr>
              <a:t>$41.01B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761488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94A3B8"/>
                </a:solidFill>
                <a:latin typeface="Segoe UI"/>
              </a:rPr>
              <a:t>2025 → 2030  •  CAGR 42.83%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719072"/>
            <a:ext cx="5321808" cy="1645920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1828800"/>
            <a:ext cx="4846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0B981"/>
                </a:solidFill>
                <a:latin typeface="Segoe UI"/>
              </a:rPr>
              <a:t>INDIA EDTECH 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084831"/>
            <a:ext cx="489204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94A3B8"/>
                </a:solidFill>
                <a:latin typeface="Segoe UI"/>
              </a:rPr>
              <a:t>₹64,875 Cr</a:t>
            </a:r>
            <a:r>
              <a:rPr sz="2100" b="1" i="0">
                <a:solidFill>
                  <a:srgbClr val="D4AF37"/>
                </a:solidFill>
                <a:latin typeface="Segoe UI"/>
              </a:rPr>
              <a:t>  →  </a:t>
            </a:r>
            <a:r>
              <a:rPr sz="2100" b="1" i="0">
                <a:solidFill>
                  <a:srgbClr val="F8FAFC"/>
                </a:solidFill>
                <a:latin typeface="Segoe UI"/>
              </a:rPr>
              <a:t>₹2,50,850 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2761488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94A3B8"/>
                </a:solidFill>
                <a:latin typeface="Segoe UI"/>
              </a:rPr>
              <a:t>$7.50B → $29.00B  •  CAGR 25.8%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11880"/>
            <a:ext cx="10927080" cy="2331720"/>
          </a:xfrm>
          <a:prstGeom prst="roundRect">
            <a:avLst>
              <a:gd name="adj" fmla="val 4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730752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D4AF37"/>
                </a:solidFill>
                <a:latin typeface="Segoe UI"/>
              </a:rPr>
              <a:t>2030 GLOBAL AI-IN-EDUCATION FORECASTS  •  SCOPE DIFFERS BY HOUSE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178807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F8FAFC"/>
                </a:solidFill>
                <a:latin typeface="Segoe UI"/>
              </a:rPr>
              <a:t>Mordor Intelligence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63240" y="4178807"/>
            <a:ext cx="5120640" cy="182880"/>
          </a:xfrm>
          <a:prstGeom prst="roundRect">
            <a:avLst>
              <a:gd name="adj" fmla="val 4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063240" y="4178807"/>
            <a:ext cx="5120640" cy="182880"/>
          </a:xfrm>
          <a:prstGeom prst="roundRect">
            <a:avLst>
              <a:gd name="adj" fmla="val 4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16052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8FAFC"/>
                </a:solidFill>
                <a:latin typeface="Segoe UI"/>
              </a:rPr>
              <a:t>$41.01B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4178807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80" b="0" i="0">
                <a:solidFill>
                  <a:srgbClr val="94A3B8"/>
                </a:solidFill>
                <a:latin typeface="Segoe UI"/>
              </a:rPr>
              <a:t>42.83% CAGR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709159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F8FAFC"/>
                </a:solidFill>
                <a:latin typeface="Segoe UI"/>
              </a:rPr>
              <a:t>Grand View Research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63240" y="4709159"/>
            <a:ext cx="5120640" cy="182880"/>
          </a:xfrm>
          <a:prstGeom prst="roundRect">
            <a:avLst>
              <a:gd name="adj" fmla="val 4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063240" y="4709159"/>
            <a:ext cx="4029335" cy="182880"/>
          </a:xfrm>
          <a:prstGeom prst="roundRect">
            <a:avLst>
              <a:gd name="adj" fmla="val 45000"/>
            </a:avLst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46908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8FAFC"/>
                </a:solidFill>
                <a:latin typeface="Segoe UI"/>
              </a:rPr>
              <a:t>$32.27B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4709159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80" b="0" i="0">
                <a:solidFill>
                  <a:srgbClr val="94A3B8"/>
                </a:solidFill>
                <a:latin typeface="Segoe UI"/>
              </a:rPr>
              <a:t>31.20% CAGR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5239512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F8FAFC"/>
                </a:solidFill>
                <a:latin typeface="Segoe UI"/>
              </a:rPr>
              <a:t>MarketsandMarkets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5239512"/>
            <a:ext cx="5120640" cy="182880"/>
          </a:xfrm>
          <a:prstGeom prst="roundRect">
            <a:avLst>
              <a:gd name="adj" fmla="val 4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063240" y="5239512"/>
            <a:ext cx="726703" cy="182880"/>
          </a:xfrm>
          <a:prstGeom prst="roundRect">
            <a:avLst>
              <a:gd name="adj" fmla="val 45000"/>
            </a:avLst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522122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8FAFC"/>
                </a:solidFill>
                <a:latin typeface="Segoe UI"/>
              </a:rPr>
              <a:t>$5.82B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4040" y="5239512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80" b="0" i="0">
                <a:solidFill>
                  <a:srgbClr val="94A3B8"/>
                </a:solidFill>
                <a:latin typeface="Segoe UI"/>
              </a:rPr>
              <a:t>17.50% CAGR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" y="5724144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64748B"/>
                </a:solidFill>
                <a:latin typeface="Segoe UI"/>
              </a:rPr>
              <a:t>Use these as a range, not a single point estimate. The direction is unambiguous: double-digit to 40%+ growth.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0B981"/>
                </a:solidFill>
                <a:latin typeface="Segoe UI"/>
              </a:rPr>
              <a:t>TARGET PERSONAS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03504"/>
            <a:ext cx="1092708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8FAFC"/>
                </a:solidFill>
                <a:latin typeface="Segoe UI"/>
              </a:rPr>
              <a:t>Three buyers, one repeated pain.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1417320"/>
            <a:ext cx="15544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0" y="6437376"/>
            <a:ext cx="57607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Segoe UI"/>
              </a:rPr>
              <a:t>06 / 24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881360" y="6547104"/>
            <a:ext cx="658368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437376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64748B"/>
                </a:solidFill>
                <a:latin typeface="Segoe UI"/>
              </a:rPr>
              <a:t>Typecast for pitch narrative; not a statistical sample. Telugu language pack is on the roadmap.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37360"/>
            <a:ext cx="3520440" cy="4041648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9536" y="1920240"/>
            <a:ext cx="530352" cy="530352"/>
          </a:xfrm>
          <a:prstGeom prst="ellipse">
            <a:avLst/>
          </a:prstGeom>
          <a:solidFill>
            <a:srgbClr val="0E2A24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011680"/>
            <a:ext cx="5303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0B981"/>
                </a:solidFill>
                <a:latin typeface="Segoe UI"/>
              </a:rPr>
              <a:t>BK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7904" y="193852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8FAFC"/>
                </a:solidFill>
                <a:latin typeface="Segoe UI"/>
              </a:rPr>
              <a:t>College Dean / 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7904" y="2240280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D4AF37"/>
                </a:solidFill>
                <a:latin typeface="Segoe UI"/>
              </a:rPr>
              <a:t>B2B Buyer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670048"/>
            <a:ext cx="3090672" cy="2880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50" b="1" i="0">
                <a:solidFill>
                  <a:srgbClr val="10B981"/>
                </a:solidFill>
                <a:latin typeface="Segoe UI"/>
              </a:rPr>
              <a:t>TARGET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4,000+ Tier-2/3 engineering colleges in India.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50" b="1" i="0">
                <a:solidFill>
                  <a:srgbClr val="10B981"/>
                </a:solidFill>
                <a:latin typeface="Segoe UI"/>
              </a:rPr>
              <a:t>GOAL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00" b="0" i="0">
                <a:solidFill>
                  <a:srgbClr val="F8FAFC"/>
                </a:solidFill>
                <a:latin typeface="Segoe UI"/>
              </a:rPr>
              <a:t>Drive pass rates and accreditation without hiring more faculty.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50" b="1" i="0">
                <a:solidFill>
                  <a:srgbClr val="10B981"/>
                </a:solidFill>
                <a:latin typeface="Segoe UI"/>
              </a:rPr>
              <a:t>HARDWARE / LANGUAGE</a:t>
            </a:r>
          </a:p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Decision metric: departments onboarded, cost per student.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737360"/>
            <a:ext cx="3520440" cy="4041648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62856" y="1920240"/>
            <a:ext cx="530352" cy="530352"/>
          </a:xfrm>
          <a:prstGeom prst="ellipse">
            <a:avLst/>
          </a:prstGeom>
          <a:solidFill>
            <a:srgbClr val="0E2A24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2856" y="2011680"/>
            <a:ext cx="5303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0B981"/>
                </a:solidFill>
                <a:latin typeface="Segoe UI"/>
              </a:rPr>
              <a:t>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193852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8FAFC"/>
                </a:solidFill>
                <a:latin typeface="Segoe UI"/>
              </a:rPr>
              <a:t>Prof. Ananya Sharma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1224" y="2240280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D4AF37"/>
                </a:solidFill>
                <a:latin typeface="Segoe UI"/>
              </a:rPr>
              <a:t>Educator Champion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2856" y="2670048"/>
            <a:ext cx="3090672" cy="2880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50" b="1" i="0">
                <a:solidFill>
                  <a:srgbClr val="10B981"/>
                </a:solidFill>
                <a:latin typeface="Segoe UI"/>
              </a:rPr>
              <a:t>TARGET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College STEM faculty teaching calculus, optics, mechanics.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50" b="1" i="0">
                <a:solidFill>
                  <a:srgbClr val="10B981"/>
                </a:solidFill>
                <a:latin typeface="Segoe UI"/>
              </a:rPr>
              <a:t>GOAL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00" b="0" i="0">
                <a:solidFill>
                  <a:srgbClr val="F8FAFC"/>
                </a:solidFill>
                <a:latin typeface="Segoe UI"/>
              </a:rPr>
              <a:t>Save 10+ hours/week preparing geometry and board derivations.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50" b="1" i="0">
                <a:solidFill>
                  <a:srgbClr val="10B981"/>
                </a:solidFill>
                <a:latin typeface="Segoe UI"/>
              </a:rPr>
              <a:t>HARDWARE / LANGUAGE</a:t>
            </a:r>
          </a:p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Runs on existing faculty laptop: 4–8 GB RAM.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19" y="1737360"/>
            <a:ext cx="3520440" cy="4041648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66175" y="1920240"/>
            <a:ext cx="530352" cy="530352"/>
          </a:xfrm>
          <a:prstGeom prst="ellipse">
            <a:avLst/>
          </a:prstGeom>
          <a:solidFill>
            <a:srgbClr val="0E2A24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66175" y="2011680"/>
            <a:ext cx="5303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0B981"/>
                </a:solidFill>
                <a:latin typeface="Segoe UI"/>
              </a:rPr>
              <a:t>RP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24543" y="193852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8FAFC"/>
                </a:solidFill>
                <a:latin typeface="Segoe UI"/>
              </a:rPr>
              <a:t>Ramesh Patel, 2nd-year student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24543" y="2240280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D4AF37"/>
                </a:solidFill>
                <a:latin typeface="Segoe UI"/>
              </a:rPr>
              <a:t>End User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5" y="2670048"/>
            <a:ext cx="3090672" cy="2880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50" b="1" i="0">
                <a:solidFill>
                  <a:srgbClr val="10B981"/>
                </a:solidFill>
                <a:latin typeface="Segoe UI"/>
              </a:rPr>
              <a:t>TARGET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Engineering undergraduate preparing for internal exams.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50" b="1" i="0">
                <a:solidFill>
                  <a:srgbClr val="10B981"/>
                </a:solidFill>
                <a:latin typeface="Segoe UI"/>
              </a:rPr>
              <a:t>GOAL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900" b="0" i="0">
                <a:solidFill>
                  <a:srgbClr val="F8FAFC"/>
                </a:solidFill>
                <a:latin typeface="Segoe UI"/>
              </a:rPr>
              <a:t>Replay the professor's derivation step-by-step, in a regional language.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50" b="1" i="0">
                <a:solidFill>
                  <a:srgbClr val="10B981"/>
                </a:solidFill>
                <a:latin typeface="Segoe UI"/>
              </a:rPr>
              <a:t>HARDWARE / LANGUAGE</a:t>
            </a:r>
          </a:p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Languages: Kannada, Hindi, Telugu (Telugu on roadmap).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0B981"/>
                </a:solidFill>
                <a:latin typeface="Segoe U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03504"/>
            <a:ext cx="1092708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8FAFC"/>
                </a:solidFill>
                <a:latin typeface="Segoe UI"/>
              </a:rPr>
              <a:t>One topic in. A teachable board out.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1417320"/>
            <a:ext cx="15544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0" y="6437376"/>
            <a:ext cx="57607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Segoe UI"/>
              </a:rPr>
              <a:t>07 / 24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881360" y="6547104"/>
            <a:ext cx="658368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437376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64748B"/>
                </a:solidFill>
                <a:latin typeface="Segoe UI"/>
              </a:rPr>
              <a:t>Pipeline implemented in medha/lesson, medha/ingest, medha/rag, medha/render and medha/tts.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55648"/>
            <a:ext cx="1975104" cy="2487168"/>
          </a:xfrm>
          <a:prstGeom prst="roundRect">
            <a:avLst>
              <a:gd name="adj" fmla="val 6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59" y="1920240"/>
            <a:ext cx="402336" cy="402336"/>
          </a:xfrm>
          <a:prstGeom prst="ellipse">
            <a:avLst/>
          </a:prstGeom>
          <a:solidFill>
            <a:srgbClr val="0E2A24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984248"/>
            <a:ext cx="40233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0B981"/>
                </a:solidFill>
                <a:latin typeface="Segoe U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450592"/>
            <a:ext cx="16093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4AF37"/>
                </a:solidFill>
                <a:latin typeface="Segoe UI"/>
              </a:rPr>
              <a:t>INGEST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2724912"/>
            <a:ext cx="1627632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94A3B8"/>
                </a:solidFill>
                <a:latin typeface="Segoe UI"/>
              </a:rPr>
              <a:t>PDFs, PPTs, and professor's notes parsed with Docling.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33472" y="2999232"/>
            <a:ext cx="128016" cy="0"/>
          </a:xfrm>
          <a:prstGeom prst="line">
            <a:avLst/>
          </a:prstGeom>
          <a:ln w="1778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779776" y="1755648"/>
            <a:ext cx="1975104" cy="2487168"/>
          </a:xfrm>
          <a:prstGeom prst="roundRect">
            <a:avLst>
              <a:gd name="adj" fmla="val 6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62656" y="1920240"/>
            <a:ext cx="402336" cy="402336"/>
          </a:xfrm>
          <a:prstGeom prst="ellipse">
            <a:avLst/>
          </a:prstGeom>
          <a:solidFill>
            <a:srgbClr val="0E2A24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62656" y="1984248"/>
            <a:ext cx="40233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0B981"/>
                </a:solidFill>
                <a:latin typeface="Segoe U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62656" y="2450592"/>
            <a:ext cx="16093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4AF37"/>
                </a:solidFill>
                <a:latin typeface="Segoe UI"/>
              </a:rPr>
              <a:t>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2724912"/>
            <a:ext cx="1627632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94A3B8"/>
                </a:solidFill>
                <a:latin typeface="Segoe UI"/>
              </a:rPr>
              <a:t>LLM writes a stepwise lesson, LaTeX, and narration.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73168" y="2999232"/>
            <a:ext cx="128016" cy="0"/>
          </a:xfrm>
          <a:prstGeom prst="line">
            <a:avLst/>
          </a:prstGeom>
          <a:ln w="1778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919472" y="1755648"/>
            <a:ext cx="1975104" cy="2487168"/>
          </a:xfrm>
          <a:prstGeom prst="roundRect">
            <a:avLst>
              <a:gd name="adj" fmla="val 6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02352" y="1920240"/>
            <a:ext cx="402336" cy="402336"/>
          </a:xfrm>
          <a:prstGeom prst="ellipse">
            <a:avLst/>
          </a:prstGeom>
          <a:solidFill>
            <a:srgbClr val="0E2A24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02352" y="1984248"/>
            <a:ext cx="40233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0B981"/>
                </a:solidFill>
                <a:latin typeface="Segoe U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02352" y="2450592"/>
            <a:ext cx="16093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4AF37"/>
                </a:solidFill>
                <a:latin typeface="Segoe UI"/>
              </a:rPr>
              <a:t>RENDER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02352" y="2724912"/>
            <a:ext cx="1627632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94A3B8"/>
                </a:solidFill>
                <a:latin typeface="Segoe UI"/>
              </a:rPr>
              <a:t>Vector chalk strokes build the board at 60 FPS.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12864" y="2999232"/>
            <a:ext cx="128016" cy="0"/>
          </a:xfrm>
          <a:prstGeom prst="line">
            <a:avLst/>
          </a:prstGeom>
          <a:ln w="1778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059168" y="1755648"/>
            <a:ext cx="1975104" cy="2487168"/>
          </a:xfrm>
          <a:prstGeom prst="roundRect">
            <a:avLst>
              <a:gd name="adj" fmla="val 6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242048" y="1920240"/>
            <a:ext cx="402336" cy="402336"/>
          </a:xfrm>
          <a:prstGeom prst="ellipse">
            <a:avLst/>
          </a:prstGeom>
          <a:solidFill>
            <a:srgbClr val="0E2A24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42048" y="1984248"/>
            <a:ext cx="40233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0B981"/>
                </a:solidFill>
                <a:latin typeface="Segoe U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42048" y="2450592"/>
            <a:ext cx="16093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4AF37"/>
                </a:solidFill>
                <a:latin typeface="Segoe UI"/>
              </a:rPr>
              <a:t>NARRATE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42048" y="2724912"/>
            <a:ext cx="1627632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94A3B8"/>
                </a:solidFill>
                <a:latin typeface="Segoe UI"/>
              </a:rPr>
              <a:t>Sentence-level speech stays within ±150 ms.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052560" y="2999232"/>
            <a:ext cx="128016" cy="0"/>
          </a:xfrm>
          <a:prstGeom prst="line">
            <a:avLst/>
          </a:prstGeom>
          <a:ln w="1778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198864" y="1755648"/>
            <a:ext cx="1975104" cy="2487168"/>
          </a:xfrm>
          <a:prstGeom prst="roundRect">
            <a:avLst>
              <a:gd name="adj" fmla="val 6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381744" y="1920240"/>
            <a:ext cx="402336" cy="402336"/>
          </a:xfrm>
          <a:prstGeom prst="ellipse">
            <a:avLst/>
          </a:prstGeom>
          <a:solidFill>
            <a:srgbClr val="0E2A24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81744" y="1984248"/>
            <a:ext cx="40233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0B981"/>
                </a:solidFill>
                <a:latin typeface="Segoe U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81744" y="2450592"/>
            <a:ext cx="160934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D4AF37"/>
                </a:solidFill>
                <a:latin typeface="Segoe UI"/>
              </a:rPr>
              <a:t>CHECK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81744" y="2724912"/>
            <a:ext cx="1627632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94A3B8"/>
                </a:solidFill>
                <a:latin typeface="Segoe UI"/>
              </a:rPr>
              <a:t>Checkpoint questions and doubt analytics close the loop.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4526280"/>
            <a:ext cx="10927080" cy="1051560"/>
          </a:xfrm>
          <a:prstGeom prst="roundRect">
            <a:avLst>
              <a:gd name="adj" fmla="val 5000"/>
            </a:avLst>
          </a:prstGeom>
          <a:solidFill>
            <a:srgbClr val="0E2A24"/>
          </a:solidFill>
          <a:ln w="9525">
            <a:solidFill>
              <a:srgbClr val="064E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4663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8FAFC"/>
                </a:solidFill>
                <a:latin typeface="Segoe UI"/>
              </a:rPr>
              <a:t>One campus laptop or LAN server. No cloud API in the loop.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001768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94A3B8"/>
                </a:solidFill>
                <a:latin typeface="Segoe UI"/>
              </a:rPr>
              <a:t>The professor's own syllabus becomes the grounding layer; the student sees the reasoning, not just the result.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32520" y="4828032"/>
            <a:ext cx="841248" cy="310896"/>
          </a:xfrm>
          <a:prstGeom prst="roundRect">
            <a:avLst>
              <a:gd name="adj" fmla="val 35000"/>
            </a:avLst>
          </a:prstGeom>
          <a:solidFill>
            <a:srgbClr val="0E2A24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4828032"/>
            <a:ext cx="84124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10B981"/>
                </a:solidFill>
                <a:latin typeface="Segoe UI"/>
              </a:rPr>
              <a:t>Docling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46920" y="4828032"/>
            <a:ext cx="841248" cy="310896"/>
          </a:xfrm>
          <a:prstGeom prst="roundRect">
            <a:avLst>
              <a:gd name="adj" fmla="val 35000"/>
            </a:avLst>
          </a:prstGeom>
          <a:solidFill>
            <a:srgbClr val="0E2A24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46920" y="4828032"/>
            <a:ext cx="84124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10B981"/>
                </a:solidFill>
                <a:latin typeface="Segoe UI"/>
              </a:rPr>
              <a:t>Ollama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515600" y="4828032"/>
            <a:ext cx="841248" cy="310896"/>
          </a:xfrm>
          <a:prstGeom prst="roundRect">
            <a:avLst>
              <a:gd name="adj" fmla="val 35000"/>
            </a:avLst>
          </a:prstGeom>
          <a:solidFill>
            <a:srgbClr val="0E2A24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15600" y="4828032"/>
            <a:ext cx="841248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10B981"/>
                </a:solidFill>
                <a:latin typeface="Segoe UI"/>
              </a:rPr>
              <a:t>OpenGL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0B981"/>
                </a:solidFill>
                <a:latin typeface="Segoe UI"/>
              </a:rPr>
              <a:t>CORE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03504"/>
            <a:ext cx="1092708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8FAFC"/>
                </a:solidFill>
                <a:latin typeface="Segoe UI"/>
              </a:rPr>
              <a:t>The model writes meaning. The renderer writes geometry.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1417320"/>
            <a:ext cx="15544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0" y="6437376"/>
            <a:ext cx="57607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Segoe UI"/>
              </a:rPr>
              <a:t>08 / 24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881360" y="6547104"/>
            <a:ext cx="658368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437376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64748B"/>
                </a:solidFill>
                <a:latin typeface="Segoe UI"/>
              </a:rPr>
              <a:t>Contract: medha/core/schema.py and spec/board-action/v1/SPEC.md.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37360"/>
            <a:ext cx="5394960" cy="3675887"/>
          </a:xfrm>
          <a:prstGeom prst="roundRect">
            <a:avLst>
              <a:gd name="adj" fmla="val 4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65376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0B981"/>
                </a:solidFill>
                <a:latin typeface="Segoe UI"/>
              </a:rPr>
              <a:t>LLM OUTPUT  •  SEMANTIC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157984"/>
            <a:ext cx="4937760" cy="228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94A3B8"/>
                </a:solidFill>
                <a:latin typeface="Consolas"/>
              </a:rPr>
              <a:t>{</a:t>
            </a:r>
          </a:p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A7F3D0"/>
                </a:solidFill>
                <a:latin typeface="Consolas"/>
              </a:rPr>
              <a:t>  "op": "write_math",</a:t>
            </a:r>
          </a:p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A7F3D0"/>
                </a:solidFill>
                <a:latin typeface="Consolas"/>
              </a:rPr>
              <a:t>  "latex": "F = m a",</a:t>
            </a:r>
          </a:p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A7F3D0"/>
                </a:solidFill>
                <a:latin typeface="Consolas"/>
              </a:rPr>
              <a:t>  "rect": { "x": 0.08, "y": 0.24,</a:t>
            </a:r>
          </a:p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A7F3D0"/>
                </a:solidFill>
                <a:latin typeface="Consolas"/>
              </a:rPr>
              <a:t>            "w": 0.42, "h": 0.12 },</a:t>
            </a:r>
          </a:p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A7F3D0"/>
                </a:solidFill>
                <a:latin typeface="Consolas"/>
              </a:rPr>
              <a:t>  "duration_ms": 1500,</a:t>
            </a:r>
          </a:p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A7F3D0"/>
                </a:solidFill>
                <a:latin typeface="Consolas"/>
              </a:rPr>
              <a:t>  "start": { "sentence": 0, "char": 24 }</a:t>
            </a:r>
          </a:p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94A3B8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681728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D4AF37"/>
                </a:solidFill>
                <a:latin typeface="Segoe UI"/>
              </a:rPr>
              <a:t>No stroke points. No fonts. No pixels.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97433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94A3B8"/>
                </a:solidFill>
                <a:latin typeface="Segoe UI"/>
              </a:rPr>
              <a:t>The contract stays small enough for a 4B model.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1737360"/>
            <a:ext cx="5276088" cy="3675887"/>
          </a:xfrm>
          <a:prstGeom prst="roundRect">
            <a:avLst>
              <a:gd name="adj" fmla="val 4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186537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D4AF37"/>
                </a:solidFill>
                <a:latin typeface="Segoe UI"/>
              </a:rPr>
              <a:t>RENDERER OWNS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10528" y="2276856"/>
            <a:ext cx="68580" cy="685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3408" y="2212848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F8FAFC"/>
                </a:solidFill>
                <a:latin typeface="Segoe UI"/>
              </a:rPr>
              <a:t>Normalized board coordinates and collision repair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10528" y="2880360"/>
            <a:ext cx="68580" cy="685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93408" y="2816352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F8FAFC"/>
                </a:solidFill>
                <a:latin typeface="Segoe UI"/>
              </a:rPr>
              <a:t>Stroke order, partial progress, and chalk texture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10528" y="3483864"/>
            <a:ext cx="68580" cy="685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93408" y="3419856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F8FAFC"/>
                </a:solidFill>
                <a:latin typeface="Segoe UI"/>
              </a:rPr>
              <a:t>Hershey font metrics and LaTeX-to-vector paths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10528" y="4087368"/>
            <a:ext cx="68580" cy="685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93408" y="402336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F8FAFC"/>
                </a:solidFill>
                <a:latin typeface="Segoe UI"/>
              </a:rPr>
              <a:t>Audio-anchored timing and checkpoint placement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754880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0B981"/>
                </a:solidFill>
                <a:latin typeface="Segoe UI"/>
              </a:rPr>
              <a:t>Result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501091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94A3B8"/>
                </a:solidFill>
                <a:latin typeface="Segoe UI"/>
              </a:rPr>
              <a:t>Testable output  •  model-swappable  •  impossible to draw off-board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596128"/>
            <a:ext cx="10927080" cy="502920"/>
          </a:xfrm>
          <a:prstGeom prst="roundRect">
            <a:avLst>
              <a:gd name="adj" fmla="val 20000"/>
            </a:avLst>
          </a:prstGeom>
          <a:solidFill>
            <a:srgbClr val="3A2F14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696712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D4AF37"/>
                </a:solidFill>
                <a:latin typeface="Segoe UI"/>
              </a:rPr>
              <a:t>This is why a small local model can produce a reliable classroom board.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0B981"/>
                </a:solidFill>
                <a:latin typeface="Segoe UI"/>
              </a:rPr>
              <a:t>PRODUCT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03504"/>
            <a:ext cx="1092708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8FAFC"/>
                </a:solidFill>
                <a:latin typeface="Segoe UI"/>
              </a:rPr>
              <a:t>What the student actually sees.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1417320"/>
            <a:ext cx="15544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0" y="6437376"/>
            <a:ext cx="57607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Segoe UI"/>
              </a:rPr>
              <a:t>09 / 24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881360" y="6547104"/>
            <a:ext cx="658368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437376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64748B"/>
                </a:solidFill>
                <a:latin typeface="Segoe UI"/>
              </a:rPr>
              <a:t>Illustrative 60-second demo flow based on the Studio Create, playback, and checkpoint paths.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37360"/>
            <a:ext cx="2596896" cy="2880360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8096" y="1865376"/>
            <a:ext cx="2340864" cy="1170432"/>
          </a:xfrm>
          <a:prstGeom prst="roundRect">
            <a:avLst>
              <a:gd name="adj" fmla="val 3000"/>
            </a:avLst>
          </a:prstGeom>
          <a:solidFill>
            <a:srgbClr val="0B1220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75104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0B981"/>
                </a:solidFill>
                <a:latin typeface="Segoe U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21284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8FAFC"/>
                </a:solidFill>
                <a:latin typeface="Consolas"/>
              </a:rPr>
              <a:t>unit3_notes.pdf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487168"/>
            <a:ext cx="202996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Segoe UI"/>
              </a:rPr>
              <a:t>14 pages
3 figures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154680"/>
            <a:ext cx="234086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8FAFC"/>
                </a:solidFill>
                <a:latin typeface="Segoe UI"/>
              </a:rPr>
              <a:t>Professor uploads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438144"/>
            <a:ext cx="234086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60" b="0" i="0">
                <a:solidFill>
                  <a:srgbClr val="94A3B8"/>
                </a:solidFill>
                <a:latin typeface="Segoe UI"/>
              </a:rPr>
              <a:t>Unit 3 notes, 14 pages, one diagram-heavy PDF.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" y="4160520"/>
            <a:ext cx="658368" cy="237744"/>
          </a:xfrm>
          <a:prstGeom prst="roundRect">
            <a:avLst>
              <a:gd name="adj" fmla="val 35000"/>
            </a:avLst>
          </a:prstGeom>
          <a:solidFill>
            <a:srgbClr val="0E2A24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4160520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10B981"/>
                </a:solidFill>
                <a:latin typeface="Segoe UI"/>
              </a:rPr>
              <a:t>DOCX / PDF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01568" y="1737360"/>
            <a:ext cx="2596896" cy="2880360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529584" y="1865376"/>
            <a:ext cx="2340864" cy="1170432"/>
          </a:xfrm>
          <a:prstGeom prst="roundRect">
            <a:avLst>
              <a:gd name="adj" fmla="val 3000"/>
            </a:avLst>
          </a:prstGeom>
          <a:solidFill>
            <a:srgbClr val="0B1220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9311" y="1975104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0B981"/>
                </a:solidFill>
                <a:latin typeface="Segoe U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1" y="22128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F8FAFC"/>
                </a:solidFill>
                <a:latin typeface="Consolas"/>
              </a:rPr>
              <a:t>s1  force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1" y="24688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Consolas"/>
              </a:rPr>
              <a:t>s2  mass
s3  acceleration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9584" y="3154680"/>
            <a:ext cx="234086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8FAFC"/>
                </a:solidFill>
                <a:latin typeface="Segoe UI"/>
              </a:rPr>
              <a:t>Medha plans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9584" y="3438144"/>
            <a:ext cx="234086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60" b="0" i="0">
                <a:solidFill>
                  <a:srgbClr val="94A3B8"/>
                </a:solidFill>
                <a:latin typeface="Segoe UI"/>
              </a:rPr>
              <a:t>6 steps, LaTeX equations, narration script.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9584" y="4160520"/>
            <a:ext cx="658368" cy="237744"/>
          </a:xfrm>
          <a:prstGeom prst="roundRect">
            <a:avLst>
              <a:gd name="adj" fmla="val 35000"/>
            </a:avLst>
          </a:prstGeom>
          <a:solidFill>
            <a:srgbClr val="0E2A24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9584" y="4160520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10B981"/>
                </a:solidFill>
                <a:latin typeface="Segoe UI"/>
              </a:rPr>
              <a:t>PLAN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6" y="1737360"/>
            <a:ext cx="2596896" cy="2880360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91072" y="1865376"/>
            <a:ext cx="2340864" cy="1170432"/>
          </a:xfrm>
          <a:prstGeom prst="roundRect">
            <a:avLst>
              <a:gd name="adj" fmla="val 3000"/>
            </a:avLst>
          </a:prstGeom>
          <a:solidFill>
            <a:srgbClr val="0B1220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1975104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0B981"/>
                </a:solidFill>
                <a:latin typeface="Segoe UI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19456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8FAFC"/>
                </a:solidFill>
                <a:latin typeface="Consolas"/>
              </a:rPr>
              <a:t>F = m 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6060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0B981"/>
                </a:solidFill>
                <a:latin typeface="Consolas"/>
              </a:rPr>
              <a:t>a = F / 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00800" y="2816352"/>
            <a:ext cx="1956816" cy="0"/>
          </a:xfrm>
          <a:prstGeom prst="line">
            <a:avLst/>
          </a:prstGeom>
          <a:ln w="190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291072" y="3154680"/>
            <a:ext cx="234086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8FAFC"/>
                </a:solidFill>
                <a:latin typeface="Segoe UI"/>
              </a:rPr>
              <a:t>Board builds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91072" y="3438144"/>
            <a:ext cx="234086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60" b="0" i="0">
                <a:solidFill>
                  <a:srgbClr val="94A3B8"/>
                </a:solidFill>
                <a:latin typeface="Segoe UI"/>
              </a:rPr>
              <a:t>Kannada voice plays while strokes appear in sync.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91072" y="4160520"/>
            <a:ext cx="658368" cy="237744"/>
          </a:xfrm>
          <a:prstGeom prst="roundRect">
            <a:avLst>
              <a:gd name="adj" fmla="val 35000"/>
            </a:avLst>
          </a:prstGeom>
          <a:solidFill>
            <a:srgbClr val="0E2A24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91072" y="4160520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10B981"/>
                </a:solidFill>
                <a:latin typeface="Segoe UI"/>
              </a:rPr>
              <a:t>LIVE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24544" y="1737360"/>
            <a:ext cx="2596896" cy="2880360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052560" y="1865376"/>
            <a:ext cx="2340864" cy="1170432"/>
          </a:xfrm>
          <a:prstGeom prst="roundRect">
            <a:avLst>
              <a:gd name="adj" fmla="val 3000"/>
            </a:avLst>
          </a:prstGeom>
          <a:solidFill>
            <a:srgbClr val="0B1220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62288" y="1975104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0B981"/>
                </a:solidFill>
                <a:latin typeface="Segoe UI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62288" y="219456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F8FAFC"/>
                </a:solidFill>
                <a:latin typeface="Segoe UI"/>
              </a:rPr>
              <a:t>If mass doubles,
what happens to a?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62288" y="272491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i="1">
                <a:solidFill>
                  <a:srgbClr val="10B981"/>
                </a:solidFill>
                <a:latin typeface="Segoe UI"/>
              </a:rPr>
              <a:t>answer: a halves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3154680"/>
            <a:ext cx="234086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8FAFC"/>
                </a:solidFill>
                <a:latin typeface="Segoe UI"/>
              </a:rPr>
              <a:t>Checkpoint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3438144"/>
            <a:ext cx="234086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60" b="0" i="0">
                <a:solidFill>
                  <a:srgbClr val="94A3B8"/>
                </a:solidFill>
                <a:latin typeface="Segoe UI"/>
              </a:rPr>
              <a:t>"What happens if mass doubles?" Analytics log the gap.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52560" y="4160520"/>
            <a:ext cx="658368" cy="237744"/>
          </a:xfrm>
          <a:prstGeom prst="roundRect">
            <a:avLst>
              <a:gd name="adj" fmla="val 35000"/>
            </a:avLst>
          </a:prstGeom>
          <a:solidFill>
            <a:srgbClr val="0E2A24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52560" y="4160520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10B981"/>
                </a:solidFill>
                <a:latin typeface="Segoe UI"/>
              </a:rPr>
              <a:t>CHECK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4919472"/>
            <a:ext cx="10927080" cy="868680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502920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8FAFC"/>
                </a:solidFill>
                <a:latin typeface="Segoe UI"/>
              </a:rPr>
              <a:t>Replay any step.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5285232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94A3B8"/>
                </a:solidFill>
                <a:latin typeface="Segoe UI"/>
              </a:rPr>
              <a:t>No re-recording. No new lecture.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754880" y="5138928"/>
            <a:ext cx="1783080" cy="347472"/>
          </a:xfrm>
          <a:prstGeom prst="roundRect">
            <a:avLst>
              <a:gd name="adj" fmla="val 35000"/>
            </a:avLst>
          </a:prstGeom>
          <a:solidFill>
            <a:srgbClr val="0E2A24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54880" y="5138928"/>
            <a:ext cx="178308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10B981"/>
                </a:solidFill>
                <a:latin typeface="Segoe UI"/>
              </a:rPr>
              <a:t>Switch language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12280" y="5138928"/>
            <a:ext cx="1783080" cy="347472"/>
          </a:xfrm>
          <a:prstGeom prst="roundRect">
            <a:avLst>
              <a:gd name="adj" fmla="val 35000"/>
            </a:avLst>
          </a:prstGeom>
          <a:solidFill>
            <a:srgbClr val="0E2A24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12280" y="5138928"/>
            <a:ext cx="178308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10B981"/>
                </a:solidFill>
                <a:latin typeface="Segoe UI"/>
              </a:rPr>
              <a:t>Ask a doubt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869680" y="5138928"/>
            <a:ext cx="1783080" cy="347472"/>
          </a:xfrm>
          <a:prstGeom prst="roundRect">
            <a:avLst>
              <a:gd name="adj" fmla="val 35000"/>
            </a:avLst>
          </a:prstGeom>
          <a:solidFill>
            <a:srgbClr val="0E2A24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69680" y="5138928"/>
            <a:ext cx="178308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10B981"/>
                </a:solidFill>
                <a:latin typeface="Segoe UI"/>
              </a:rPr>
              <a:t>Export to LMS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5989320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" b="0" i="1">
                <a:solidFill>
                  <a:srgbClr val="64748B"/>
                </a:solidFill>
                <a:latin typeface="Segoe UI"/>
              </a:rPr>
              <a:t>The same lesson can be replayed, translated, and grounded in the professor's notes.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0B981"/>
                </a:solidFill>
                <a:latin typeface="Segoe U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03504"/>
            <a:ext cx="1092708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8FAFC"/>
                </a:solidFill>
                <a:latin typeface="Segoe UI"/>
              </a:rPr>
              <a:t>Five categories. One empty quadrant.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1417320"/>
            <a:ext cx="15544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0" y="6437376"/>
            <a:ext cx="57607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Segoe UI"/>
              </a:rPr>
              <a:t>10 / 24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881360" y="6547104"/>
            <a:ext cx="658368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437376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64748B"/>
                </a:solidFill>
                <a:latin typeface="Segoe UI"/>
              </a:rPr>
              <a:t>Sources: Khanmigo public pricing page (Oct 2026); UNDP Digital X Catalogue; DIKSHA / Ministry of Education; public product pages.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37360"/>
            <a:ext cx="2020824" cy="3977639"/>
          </a:xfrm>
          <a:prstGeom prst="roundRect">
            <a:avLst>
              <a:gd name="adj" fmla="val 5000"/>
            </a:avLst>
          </a:prstGeom>
          <a:solidFill>
            <a:srgbClr val="0E2A24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874519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10B981"/>
                </a:solidFill>
                <a:latin typeface="Segoe UI"/>
              </a:rPr>
              <a:t>MEDHA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10312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D4AF37"/>
                </a:solidFill>
                <a:latin typeface="Segoe UI"/>
              </a:rPr>
              <a:t>Proposed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423160"/>
            <a:ext cx="1737360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19" b="0" i="0">
                <a:solidFill>
                  <a:srgbClr val="F8FAFC"/>
                </a:solidFill>
                <a:latin typeface="Segoe UI"/>
              </a:rPr>
              <a:t>Offline generative blackboard for higher-ed STEM. Vector derivations, regional voice, professor-grounded RAG.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5074920"/>
            <a:ext cx="1143000" cy="256032"/>
          </a:xfrm>
          <a:prstGeom prst="roundRect">
            <a:avLst>
              <a:gd name="adj" fmla="val 35000"/>
            </a:avLst>
          </a:prstGeom>
          <a:solidFill>
            <a:srgbClr val="064E3B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5074920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1" i="0">
                <a:solidFill>
                  <a:srgbClr val="10B981"/>
                </a:solidFill>
                <a:latin typeface="Segoe UI"/>
              </a:rPr>
              <a:t>Live + offline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25496" y="1737360"/>
            <a:ext cx="2020824" cy="3977639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1874519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F8FAFC"/>
                </a:solidFill>
                <a:latin typeface="Segoe UI"/>
              </a:rPr>
              <a:t>KHANMIGO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210312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94A3B8"/>
                </a:solidFill>
                <a:latin typeface="Segoe UI"/>
              </a:rPr>
              <a:t>Khan Academy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2423160"/>
            <a:ext cx="1737360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19" b="0" i="0">
                <a:solidFill>
                  <a:srgbClr val="94A3B8"/>
                </a:solidFill>
                <a:latin typeface="Segoe UI"/>
              </a:rPr>
              <a:t>K-12 tutor in a text-chat interface. Strong content brand, but no live visual derivation build-up.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71800" y="5074920"/>
            <a:ext cx="1143000" cy="256032"/>
          </a:xfrm>
          <a:prstGeom prst="roundRect">
            <a:avLst>
              <a:gd name="adj" fmla="val 35000"/>
            </a:avLst>
          </a:prstGeom>
          <a:solidFill>
            <a:srgbClr val="172742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71800" y="5074920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1" i="0">
                <a:solidFill>
                  <a:srgbClr val="94A3B8"/>
                </a:solidFill>
                <a:latin typeface="Segoe UI"/>
              </a:rPr>
              <a:t>Cloud chat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10912" y="1737360"/>
            <a:ext cx="2020824" cy="3977639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7216" y="1874519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F8FAFC"/>
                </a:solidFill>
                <a:latin typeface="Segoe UI"/>
              </a:rPr>
              <a:t>KOLIBRI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7216" y="210312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94A3B8"/>
                </a:solidFill>
                <a:latin typeface="Segoe UI"/>
              </a:rPr>
              <a:t>Learning Equality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7216" y="2423160"/>
            <a:ext cx="1737360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19" b="0" i="0">
                <a:solidFill>
                  <a:srgbClr val="94A3B8"/>
                </a:solidFill>
                <a:latin typeface="Segoe UI"/>
              </a:rPr>
              <a:t>Offline K-12 library with 173+ language channels. Static media; no generative derivation or document Q&amp;A.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57216" y="5074920"/>
            <a:ext cx="1143000" cy="256032"/>
          </a:xfrm>
          <a:prstGeom prst="roundRect">
            <a:avLst>
              <a:gd name="adj" fmla="val 35000"/>
            </a:avLst>
          </a:prstGeom>
          <a:solidFill>
            <a:srgbClr val="172742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57216" y="5074920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1" i="0">
                <a:solidFill>
                  <a:srgbClr val="94A3B8"/>
                </a:solidFill>
                <a:latin typeface="Segoe UI"/>
              </a:rPr>
              <a:t>Offline static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96328" y="1737360"/>
            <a:ext cx="2020824" cy="3977639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42631" y="1874519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F8FAFC"/>
                </a:solidFill>
                <a:latin typeface="Segoe UI"/>
              </a:rPr>
              <a:t>DIKSHA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42631" y="210312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94A3B8"/>
                </a:solidFill>
                <a:latin typeface="Segoe UI"/>
              </a:rPr>
              <a:t>Ministry of Education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42631" y="2423160"/>
            <a:ext cx="1737360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19" b="0" i="0">
                <a:solidFill>
                  <a:srgbClr val="94A3B8"/>
                </a:solidFill>
                <a:latin typeface="Segoe UI"/>
              </a:rPr>
              <a:t>National public digital infrastructure: e-textbooks, QR content, video. Static delivery, not interactive derivation.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42631" y="5074920"/>
            <a:ext cx="1143000" cy="256032"/>
          </a:xfrm>
          <a:prstGeom prst="roundRect">
            <a:avLst>
              <a:gd name="adj" fmla="val 35000"/>
            </a:avLst>
          </a:prstGeom>
          <a:solidFill>
            <a:srgbClr val="172742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42631" y="5074920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1" i="0">
                <a:solidFill>
                  <a:srgbClr val="94A3B8"/>
                </a:solidFill>
                <a:latin typeface="Segoe UI"/>
              </a:rPr>
              <a:t>Public static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81744" y="1737360"/>
            <a:ext cx="2020824" cy="3977639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28048" y="1874519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F8FAFC"/>
                </a:solidFill>
                <a:latin typeface="Segoe UI"/>
              </a:rPr>
              <a:t>GENERIC AI / MOOCs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28048" y="210312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94A3B8"/>
                </a:solidFill>
                <a:latin typeface="Segoe UI"/>
              </a:rPr>
              <a:t>ChatGPT, Claude, NPTEL, YouTube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28048" y="2423160"/>
            <a:ext cx="1737360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19" b="0" i="0">
                <a:solidFill>
                  <a:srgbClr val="94A3B8"/>
                </a:solidFill>
                <a:latin typeface="Segoe UI"/>
              </a:rPr>
              <a:t>Text-only chat that can drift off-syllabus, or fixed video that cannot re-explain a single step.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28048" y="5074920"/>
            <a:ext cx="1143000" cy="256032"/>
          </a:xfrm>
          <a:prstGeom prst="roundRect">
            <a:avLst>
              <a:gd name="adj" fmla="val 35000"/>
            </a:avLst>
          </a:prstGeom>
          <a:solidFill>
            <a:srgbClr val="172742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28048" y="5074920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1" i="0">
                <a:solidFill>
                  <a:srgbClr val="94A3B8"/>
                </a:solidFill>
                <a:latin typeface="Segoe UI"/>
              </a:rPr>
              <a:t>Cloud / fixed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9436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D4AF37"/>
                </a:solidFill>
                <a:latin typeface="Segoe UI"/>
              </a:rPr>
              <a:t>No incumbent combines offline deployment, live vector derivations, syllabus grounding, and regional voice.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0B981"/>
                </a:solidFill>
                <a:latin typeface="Segoe UI"/>
              </a:rPr>
              <a:t>COMPETITIVE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03504"/>
            <a:ext cx="1092708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8FAFC"/>
                </a:solidFill>
                <a:latin typeface="Segoe UI"/>
              </a:rPr>
              <a:t>Feature and architecture comparison.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1417320"/>
            <a:ext cx="15544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0" y="6437376"/>
            <a:ext cx="57607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Segoe UI"/>
              </a:rPr>
              <a:t>11 / 24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881360" y="6547104"/>
            <a:ext cx="658368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437376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64748B"/>
                </a:solidFill>
                <a:latin typeface="Segoe UI"/>
              </a:rPr>
              <a:t>Sources: Khanmigo pricing (Oct 2026); Learning Equality / UNDP Digital X; DIKSHA / MoE; public product documentation. Pricing and scope as of Oct 2026.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82496"/>
            <a:ext cx="1280160" cy="420624"/>
          </a:xfrm>
          <a:prstGeom prst="roundRect">
            <a:avLst>
              <a:gd name="adj" fmla="val 3000"/>
            </a:avLst>
          </a:prstGeom>
          <a:solidFill>
            <a:srgbClr val="172742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1" y="1737360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0B981"/>
                </a:solidFill>
                <a:latin typeface="Segoe UI"/>
              </a:rPr>
              <a:t>CATEGORY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1682496"/>
            <a:ext cx="2011680" cy="420624"/>
          </a:xfrm>
          <a:prstGeom prst="roundRect">
            <a:avLst>
              <a:gd name="adj" fmla="val 3000"/>
            </a:avLst>
          </a:prstGeom>
          <a:solidFill>
            <a:srgbClr val="172742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9112" y="1737360"/>
            <a:ext cx="186537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0B981"/>
                </a:solidFill>
                <a:latin typeface="Segoe UI"/>
              </a:rPr>
              <a:t>SCOPE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1682496"/>
            <a:ext cx="2560320" cy="420624"/>
          </a:xfrm>
          <a:prstGeom prst="roundRect">
            <a:avLst>
              <a:gd name="adj" fmla="val 3000"/>
            </a:avLst>
          </a:prstGeom>
          <a:solidFill>
            <a:srgbClr val="172742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6512" y="1737360"/>
            <a:ext cx="2414015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0B981"/>
                </a:solidFill>
                <a:latin typeface="Segoe UI"/>
              </a:rPr>
              <a:t>BOARD &amp; DERIVATION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1682496"/>
            <a:ext cx="2743200" cy="420624"/>
          </a:xfrm>
          <a:prstGeom prst="roundRect">
            <a:avLst>
              <a:gd name="adj" fmla="val 3000"/>
            </a:avLst>
          </a:prstGeom>
          <a:solidFill>
            <a:srgbClr val="172742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2552" y="1737360"/>
            <a:ext cx="259689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0B981"/>
                </a:solidFill>
                <a:latin typeface="Segoe UI"/>
              </a:rPr>
              <a:t>GROUNDING &amp; LANGUAGES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1682496"/>
            <a:ext cx="2130552" cy="420624"/>
          </a:xfrm>
          <a:prstGeom prst="roundRect">
            <a:avLst>
              <a:gd name="adj" fmla="val 3000"/>
            </a:avLst>
          </a:prstGeom>
          <a:solidFill>
            <a:srgbClr val="172742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91472" y="1737360"/>
            <a:ext cx="198424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0B981"/>
                </a:solidFill>
                <a:latin typeface="Segoe UI"/>
              </a:rPr>
              <a:t>PRICING / DEPLOYMENT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176272"/>
            <a:ext cx="1280160" cy="786384"/>
          </a:xfrm>
          <a:prstGeom prst="roundRect">
            <a:avLst>
              <a:gd name="adj" fmla="val 3000"/>
            </a:avLst>
          </a:prstGeom>
          <a:solidFill>
            <a:srgbClr val="0E2A24"/>
          </a:solidFill>
          <a:ln w="1143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1" y="2249424"/>
            <a:ext cx="1133856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40" b="1" i="0">
                <a:solidFill>
                  <a:srgbClr val="10B981"/>
                </a:solidFill>
                <a:latin typeface="Segoe UI"/>
              </a:rPr>
              <a:t>MEDHA</a:t>
            </a:r>
          </a:p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D4AF37"/>
                </a:solidFill>
                <a:latin typeface="Segoe UI"/>
              </a:rPr>
              <a:t>Proposed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65960" y="2176272"/>
            <a:ext cx="2011680" cy="786384"/>
          </a:xfrm>
          <a:prstGeom prst="roundRect">
            <a:avLst>
              <a:gd name="adj" fmla="val 3000"/>
            </a:avLst>
          </a:prstGeom>
          <a:solidFill>
            <a:srgbClr val="0E2A24"/>
          </a:solidFill>
          <a:ln w="1143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39112" y="2249424"/>
            <a:ext cx="1865376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8FAFC"/>
                </a:solidFill>
                <a:latin typeface="Segoe UI"/>
              </a:rPr>
              <a:t>B2B university STEM departments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23360" y="2176272"/>
            <a:ext cx="2560320" cy="786384"/>
          </a:xfrm>
          <a:prstGeom prst="roundRect">
            <a:avLst>
              <a:gd name="adj" fmla="val 3000"/>
            </a:avLst>
          </a:prstGeom>
          <a:solidFill>
            <a:srgbClr val="0E2A24"/>
          </a:solidFill>
          <a:ln w="1143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96512" y="2249424"/>
            <a:ext cx="2414015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8FAFC"/>
                </a:solidFill>
                <a:latin typeface="Segoe UI"/>
              </a:rPr>
              <a:t>Live stroke-by-stroke vector chalk; 60 FPS target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9400" y="2176272"/>
            <a:ext cx="2743200" cy="786384"/>
          </a:xfrm>
          <a:prstGeom prst="roundRect">
            <a:avLst>
              <a:gd name="adj" fmla="val 3000"/>
            </a:avLst>
          </a:prstGeom>
          <a:solidFill>
            <a:srgbClr val="0E2A24"/>
          </a:solidFill>
          <a:ln w="1143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2552" y="2249424"/>
            <a:ext cx="2596896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8FAFC"/>
                </a:solidFill>
                <a:latin typeface="Segoe UI"/>
              </a:rPr>
              <a:t>Docling RAG over professor's PDFs; Kannada, Hindi, Telugu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18320" y="2176272"/>
            <a:ext cx="2130552" cy="786384"/>
          </a:xfrm>
          <a:prstGeom prst="roundRect">
            <a:avLst>
              <a:gd name="adj" fmla="val 3000"/>
            </a:avLst>
          </a:prstGeom>
          <a:solidFill>
            <a:srgbClr val="0E2A24"/>
          </a:solidFill>
          <a:ln w="1143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91472" y="2249424"/>
            <a:ext cx="1984248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8FAFC"/>
                </a:solidFill>
                <a:latin typeface="Segoe UI"/>
              </a:rPr>
              <a:t>Local laptop/LAN; 4–8 GB RAM; ₹50k–₹1.5L/yr per dept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008376"/>
            <a:ext cx="1280160" cy="786384"/>
          </a:xfrm>
          <a:prstGeom prst="roundRect">
            <a:avLst>
              <a:gd name="adj" fmla="val 3000"/>
            </a:avLst>
          </a:prstGeom>
          <a:solidFill>
            <a:srgbClr val="132038"/>
          </a:solidFill>
          <a:ln w="762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1" y="3081528"/>
            <a:ext cx="1133856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40" b="1" i="0">
                <a:solidFill>
                  <a:srgbClr val="F8FAFC"/>
                </a:solidFill>
                <a:latin typeface="Segoe UI"/>
              </a:rPr>
              <a:t>KHANMIGO</a:t>
            </a:r>
          </a:p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94A3B8"/>
                </a:solidFill>
                <a:latin typeface="Segoe UI"/>
              </a:rPr>
              <a:t>Khan Academy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65960" y="3008376"/>
            <a:ext cx="2011680" cy="786384"/>
          </a:xfrm>
          <a:prstGeom prst="roundRect">
            <a:avLst>
              <a:gd name="adj" fmla="val 3000"/>
            </a:avLst>
          </a:prstGeom>
          <a:solidFill>
            <a:srgbClr val="132038"/>
          </a:solidFill>
          <a:ln w="762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39112" y="3081528"/>
            <a:ext cx="1865376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4A3B8"/>
                </a:solidFill>
                <a:latin typeface="Segoe UI"/>
              </a:rPr>
              <a:t>K-12 tutors, district plans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0" y="3008376"/>
            <a:ext cx="2560320" cy="786384"/>
          </a:xfrm>
          <a:prstGeom prst="roundRect">
            <a:avLst>
              <a:gd name="adj" fmla="val 3000"/>
            </a:avLst>
          </a:prstGeom>
          <a:solidFill>
            <a:srgbClr val="132038"/>
          </a:solidFill>
          <a:ln w="762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96512" y="3081528"/>
            <a:ext cx="2414015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4A3B8"/>
                </a:solidFill>
                <a:latin typeface="Segoe UI"/>
              </a:rPr>
              <a:t>Text chat; no live visual derivation build-up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29400" y="3008376"/>
            <a:ext cx="2743200" cy="786384"/>
          </a:xfrm>
          <a:prstGeom prst="roundRect">
            <a:avLst>
              <a:gd name="adj" fmla="val 3000"/>
            </a:avLst>
          </a:prstGeom>
          <a:solidFill>
            <a:srgbClr val="132038"/>
          </a:solidFill>
          <a:ln w="762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02552" y="3081528"/>
            <a:ext cx="2596896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4A3B8"/>
                </a:solidFill>
                <a:latin typeface="Segoe UI"/>
              </a:rPr>
              <a:t>Khan Academy content; English-first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418320" y="3008376"/>
            <a:ext cx="2130552" cy="786384"/>
          </a:xfrm>
          <a:prstGeom prst="roundRect">
            <a:avLst>
              <a:gd name="adj" fmla="val 3000"/>
            </a:avLst>
          </a:prstGeom>
          <a:solidFill>
            <a:srgbClr val="132038"/>
          </a:solidFill>
          <a:ln w="762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91472" y="3081528"/>
            <a:ext cx="1984248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4A3B8"/>
                </a:solidFill>
                <a:latin typeface="Segoe UI"/>
              </a:rPr>
              <a:t>Cloud web; $4/mo or $44/yr per user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3840480"/>
            <a:ext cx="1280160" cy="786384"/>
          </a:xfrm>
          <a:prstGeom prst="roundRect">
            <a:avLst>
              <a:gd name="adj" fmla="val 3000"/>
            </a:avLst>
          </a:prstGeom>
          <a:solidFill>
            <a:srgbClr val="132038"/>
          </a:solidFill>
          <a:ln w="762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1" y="3913632"/>
            <a:ext cx="1133856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40" b="1" i="0">
                <a:solidFill>
                  <a:srgbClr val="F8FAFC"/>
                </a:solidFill>
                <a:latin typeface="Segoe UI"/>
              </a:rPr>
              <a:t>KOLIBRI</a:t>
            </a:r>
          </a:p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94A3B8"/>
                </a:solidFill>
                <a:latin typeface="Segoe UI"/>
              </a:rPr>
              <a:t>Learning Equality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965960" y="3840480"/>
            <a:ext cx="2011680" cy="786384"/>
          </a:xfrm>
          <a:prstGeom prst="roundRect">
            <a:avLst>
              <a:gd name="adj" fmla="val 3000"/>
            </a:avLst>
          </a:prstGeom>
          <a:solidFill>
            <a:srgbClr val="132038"/>
          </a:solidFill>
          <a:ln w="762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39112" y="3913632"/>
            <a:ext cx="1865376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4A3B8"/>
                </a:solidFill>
                <a:latin typeface="Segoe UI"/>
              </a:rPr>
              <a:t>Global offline K-12 learning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023360" y="3840480"/>
            <a:ext cx="2560320" cy="786384"/>
          </a:xfrm>
          <a:prstGeom prst="roundRect">
            <a:avLst>
              <a:gd name="adj" fmla="val 3000"/>
            </a:avLst>
          </a:prstGeom>
          <a:solidFill>
            <a:srgbClr val="132038"/>
          </a:solidFill>
          <a:ln w="762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96512" y="3913632"/>
            <a:ext cx="2414015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4A3B8"/>
                </a:solidFill>
                <a:latin typeface="Segoe UI"/>
              </a:rPr>
              <a:t>Static pre-recorded media library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29400" y="3840480"/>
            <a:ext cx="2743200" cy="786384"/>
          </a:xfrm>
          <a:prstGeom prst="roundRect">
            <a:avLst>
              <a:gd name="adj" fmla="val 3000"/>
            </a:avLst>
          </a:prstGeom>
          <a:solidFill>
            <a:srgbClr val="132038"/>
          </a:solidFill>
          <a:ln w="762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02552" y="3913632"/>
            <a:ext cx="2596896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4A3B8"/>
                </a:solidFill>
                <a:latin typeface="Segoe UI"/>
              </a:rPr>
              <a:t>173+ language channels; no generative document Q&amp;A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18320" y="3840480"/>
            <a:ext cx="2130552" cy="786384"/>
          </a:xfrm>
          <a:prstGeom prst="roundRect">
            <a:avLst>
              <a:gd name="adj" fmla="val 3000"/>
            </a:avLst>
          </a:prstGeom>
          <a:solidFill>
            <a:srgbClr val="132038"/>
          </a:solidFill>
          <a:ln w="762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91472" y="3913632"/>
            <a:ext cx="1984248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4A3B8"/>
                </a:solidFill>
                <a:latin typeface="Segoe UI"/>
              </a:rPr>
              <a:t>Free / MIT; self-hosted local server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" y="4672583"/>
            <a:ext cx="1280160" cy="786384"/>
          </a:xfrm>
          <a:prstGeom prst="roundRect">
            <a:avLst>
              <a:gd name="adj" fmla="val 3000"/>
            </a:avLst>
          </a:prstGeom>
          <a:solidFill>
            <a:srgbClr val="132038"/>
          </a:solidFill>
          <a:ln w="762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231" y="4745736"/>
            <a:ext cx="1133856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40" b="1" i="0">
                <a:solidFill>
                  <a:srgbClr val="F8FAFC"/>
                </a:solidFill>
                <a:latin typeface="Segoe UI"/>
              </a:rPr>
              <a:t>DIKSHA</a:t>
            </a:r>
          </a:p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94A3B8"/>
                </a:solidFill>
                <a:latin typeface="Segoe UI"/>
              </a:rPr>
              <a:t>Ministry of Education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965960" y="4672583"/>
            <a:ext cx="2011680" cy="786384"/>
          </a:xfrm>
          <a:prstGeom prst="roundRect">
            <a:avLst>
              <a:gd name="adj" fmla="val 3000"/>
            </a:avLst>
          </a:prstGeom>
          <a:solidFill>
            <a:srgbClr val="132038"/>
          </a:solidFill>
          <a:ln w="762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39112" y="4745736"/>
            <a:ext cx="1865376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4A3B8"/>
                </a:solidFill>
                <a:latin typeface="Segoe UI"/>
              </a:rPr>
              <a:t>National public digital infrastructure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023360" y="4672583"/>
            <a:ext cx="2560320" cy="786384"/>
          </a:xfrm>
          <a:prstGeom prst="roundRect">
            <a:avLst>
              <a:gd name="adj" fmla="val 3000"/>
            </a:avLst>
          </a:prstGeom>
          <a:solidFill>
            <a:srgbClr val="132038"/>
          </a:solidFill>
          <a:ln w="762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96512" y="4745736"/>
            <a:ext cx="2414015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4A3B8"/>
                </a:solidFill>
                <a:latin typeface="Segoe UI"/>
              </a:rPr>
              <a:t>Static PDF and video playback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629400" y="4672583"/>
            <a:ext cx="2743200" cy="786384"/>
          </a:xfrm>
          <a:prstGeom prst="roundRect">
            <a:avLst>
              <a:gd name="adj" fmla="val 3000"/>
            </a:avLst>
          </a:prstGeom>
          <a:solidFill>
            <a:srgbClr val="132038"/>
          </a:solidFill>
          <a:ln w="762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02552" y="4745736"/>
            <a:ext cx="2596896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4A3B8"/>
                </a:solidFill>
                <a:latin typeface="Segoe UI"/>
              </a:rPr>
              <a:t>State-board e-textbooks; QR-coded content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418320" y="4672583"/>
            <a:ext cx="2130552" cy="786384"/>
          </a:xfrm>
          <a:prstGeom prst="roundRect">
            <a:avLst>
              <a:gd name="adj" fmla="val 3000"/>
            </a:avLst>
          </a:prstGeom>
          <a:solidFill>
            <a:srgbClr val="132038"/>
          </a:solidFill>
          <a:ln w="762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91472" y="4745736"/>
            <a:ext cx="1984248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4A3B8"/>
                </a:solidFill>
                <a:latin typeface="Segoe UI"/>
              </a:rPr>
              <a:t>Free government portal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5504688"/>
            <a:ext cx="1280160" cy="786384"/>
          </a:xfrm>
          <a:prstGeom prst="roundRect">
            <a:avLst>
              <a:gd name="adj" fmla="val 3000"/>
            </a:avLst>
          </a:prstGeom>
          <a:solidFill>
            <a:srgbClr val="132038"/>
          </a:solidFill>
          <a:ln w="762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13231" y="5577840"/>
            <a:ext cx="1133856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40" b="1" i="0">
                <a:solidFill>
                  <a:srgbClr val="F8FAFC"/>
                </a:solidFill>
                <a:latin typeface="Segoe UI"/>
              </a:rPr>
              <a:t>GENERIC AI / MOOCS</a:t>
            </a:r>
          </a:p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94A3B8"/>
                </a:solidFill>
                <a:latin typeface="Segoe UI"/>
              </a:rPr>
              <a:t>ChatGPT, Claude, NPTEL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965960" y="5504688"/>
            <a:ext cx="2011680" cy="786384"/>
          </a:xfrm>
          <a:prstGeom prst="roundRect">
            <a:avLst>
              <a:gd name="adj" fmla="val 3000"/>
            </a:avLst>
          </a:prstGeom>
          <a:solidFill>
            <a:srgbClr val="132038"/>
          </a:solidFill>
          <a:ln w="762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39112" y="5577840"/>
            <a:ext cx="1865376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4A3B8"/>
                </a:solidFill>
                <a:latin typeface="Segoe UI"/>
              </a:rPr>
              <a:t>General chat + video courses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023360" y="5504688"/>
            <a:ext cx="2560320" cy="786384"/>
          </a:xfrm>
          <a:prstGeom prst="roundRect">
            <a:avLst>
              <a:gd name="adj" fmla="val 3000"/>
            </a:avLst>
          </a:prstGeom>
          <a:solidFill>
            <a:srgbClr val="132038"/>
          </a:solidFill>
          <a:ln w="762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096512" y="5577840"/>
            <a:ext cx="2414015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4A3B8"/>
                </a:solidFill>
                <a:latin typeface="Segoe UI"/>
              </a:rPr>
              <a:t>Text-only chat or fixed non-interactive video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629400" y="5504688"/>
            <a:ext cx="2743200" cy="786384"/>
          </a:xfrm>
          <a:prstGeom prst="roundRect">
            <a:avLst>
              <a:gd name="adj" fmla="val 3000"/>
            </a:avLst>
          </a:prstGeom>
          <a:solidFill>
            <a:srgbClr val="132038"/>
          </a:solidFill>
          <a:ln w="762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02552" y="5577840"/>
            <a:ext cx="2596896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4A3B8"/>
                </a:solidFill>
                <a:latin typeface="Segoe UI"/>
              </a:rPr>
              <a:t>Open web (can drift off-syllabus) or fixed syllabus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418320" y="5504688"/>
            <a:ext cx="2130552" cy="786384"/>
          </a:xfrm>
          <a:prstGeom prst="roundRect">
            <a:avLst>
              <a:gd name="adj" fmla="val 3000"/>
            </a:avLst>
          </a:prstGeom>
          <a:solidFill>
            <a:srgbClr val="132038"/>
          </a:solidFill>
          <a:ln w="762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491472" y="5577840"/>
            <a:ext cx="1984248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4A3B8"/>
                </a:solidFill>
                <a:latin typeface="Segoe UI"/>
              </a:rPr>
              <a:t>$20/mo cloud SaaS; free public streams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0B981"/>
                </a:solidFill>
                <a:latin typeface="Segoe UI"/>
              </a:rPr>
              <a:t>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03504"/>
            <a:ext cx="1092708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8FAFC"/>
                </a:solidFill>
                <a:latin typeface="Segoe UI"/>
              </a:rPr>
              <a:t>Medha sits where offline meets generative.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1417320"/>
            <a:ext cx="15544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0" y="6437376"/>
            <a:ext cx="57607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Segoe UI"/>
              </a:rPr>
              <a:t>12 / 24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881360" y="6547104"/>
            <a:ext cx="658368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437376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64748B"/>
                </a:solidFill>
                <a:latin typeface="Segoe UI"/>
              </a:rPr>
              <a:t>Qualitative positioning based on public product capabilities, Oct 2026.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1783080"/>
            <a:ext cx="7040880" cy="4160520"/>
          </a:xfrm>
          <a:prstGeom prst="roundRect">
            <a:avLst>
              <a:gd name="adj" fmla="val 3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572000" y="1920240"/>
            <a:ext cx="0" cy="3886200"/>
          </a:xfrm>
          <a:prstGeom prst="line">
            <a:avLst/>
          </a:prstGeom>
          <a:ln w="127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88719" y="3863339"/>
            <a:ext cx="6766560" cy="0"/>
          </a:xfrm>
          <a:prstGeom prst="line">
            <a:avLst/>
          </a:prstGeom>
          <a:ln w="127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16151" y="1892807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10B981"/>
                </a:solidFill>
                <a:latin typeface="Segoe UI"/>
              </a:rPr>
              <a:t>OFFLINE / 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1" y="568756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94A3B8"/>
                </a:solidFill>
                <a:latin typeface="Segoe UI"/>
              </a:rPr>
              <a:t>CLOUD-DEPENDENT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1" y="568756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94A3B8"/>
                </a:solidFill>
                <a:latin typeface="Segoe UI"/>
              </a:rPr>
              <a:t>CLOUD-DEPENDENT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79" y="568756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D4AF37"/>
                </a:solidFill>
                <a:latin typeface="Segoe UI"/>
              </a:rPr>
              <a:t>GENERATIVE / INTERACTIVE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1" y="5687568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94A3B8"/>
                </a:solidFill>
                <a:latin typeface="Segoe UI"/>
              </a:rPr>
              <a:t>STATIC 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7592" y="213055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64748B"/>
                </a:solidFill>
                <a:latin typeface="Segoe UI"/>
              </a:rPr>
              <a:t>Static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59" y="213055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00" b="0" i="0">
                <a:solidFill>
                  <a:srgbClr val="64748B"/>
                </a:solidFill>
                <a:latin typeface="Segoe UI"/>
              </a:rPr>
              <a:t>Generative</a:t>
            </a:r>
          </a:p>
        </p:txBody>
      </p:sp>
      <p:sp>
        <p:nvSpPr>
          <p:cNvPr id="20" name="Oval 19"/>
          <p:cNvSpPr/>
          <p:nvPr/>
        </p:nvSpPr>
        <p:spPr>
          <a:xfrm>
            <a:off x="2295144" y="2798064"/>
            <a:ext cx="164592" cy="164592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23744" y="2752344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F8FAFC"/>
                </a:solidFill>
                <a:latin typeface="Segoe UI"/>
              </a:rPr>
              <a:t>Kolibri</a:t>
            </a:r>
          </a:p>
        </p:txBody>
      </p:sp>
      <p:sp>
        <p:nvSpPr>
          <p:cNvPr id="22" name="Oval 21"/>
          <p:cNvSpPr/>
          <p:nvPr/>
        </p:nvSpPr>
        <p:spPr>
          <a:xfrm>
            <a:off x="2203704" y="3529584"/>
            <a:ext cx="164592" cy="164592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32304" y="3483864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F8FAFC"/>
                </a:solidFill>
                <a:latin typeface="Segoe UI"/>
              </a:rPr>
              <a:t>DIKSHA</a:t>
            </a:r>
          </a:p>
        </p:txBody>
      </p:sp>
      <p:sp>
        <p:nvSpPr>
          <p:cNvPr id="24" name="Oval 23"/>
          <p:cNvSpPr/>
          <p:nvPr/>
        </p:nvSpPr>
        <p:spPr>
          <a:xfrm>
            <a:off x="2432304" y="4992624"/>
            <a:ext cx="164592" cy="164592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60904" y="4946904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F8FAFC"/>
                </a:solidFill>
                <a:latin typeface="Segoe UI"/>
              </a:rPr>
              <a:t>MOOCs / NPTEL</a:t>
            </a:r>
          </a:p>
        </p:txBody>
      </p:sp>
      <p:sp>
        <p:nvSpPr>
          <p:cNvPr id="26" name="Oval 25"/>
          <p:cNvSpPr/>
          <p:nvPr/>
        </p:nvSpPr>
        <p:spPr>
          <a:xfrm>
            <a:off x="6409944" y="4855464"/>
            <a:ext cx="164592" cy="164592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38544" y="4809744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F8FAFC"/>
                </a:solidFill>
                <a:latin typeface="Segoe UI"/>
              </a:rPr>
              <a:t>ChatGPT / Claude</a:t>
            </a:r>
          </a:p>
        </p:txBody>
      </p:sp>
      <p:sp>
        <p:nvSpPr>
          <p:cNvPr id="28" name="Oval 27"/>
          <p:cNvSpPr/>
          <p:nvPr/>
        </p:nvSpPr>
        <p:spPr>
          <a:xfrm>
            <a:off x="6684264" y="3849624"/>
            <a:ext cx="164592" cy="164592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12864" y="3803904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F8FAFC"/>
                </a:solidFill>
                <a:latin typeface="Segoe UI"/>
              </a:rPr>
              <a:t>Khanmigo</a:t>
            </a:r>
          </a:p>
        </p:txBody>
      </p:sp>
      <p:sp>
        <p:nvSpPr>
          <p:cNvPr id="30" name="Oval 29"/>
          <p:cNvSpPr/>
          <p:nvPr/>
        </p:nvSpPr>
        <p:spPr>
          <a:xfrm>
            <a:off x="5943600" y="2743200"/>
            <a:ext cx="402336" cy="402336"/>
          </a:xfrm>
          <a:prstGeom prst="ellipse">
            <a:avLst/>
          </a:prstGeom>
          <a:solidFill>
            <a:srgbClr val="0E2A24"/>
          </a:solidFill>
          <a:ln w="1524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062471" y="2862072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2679191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0B981"/>
                </a:solidFill>
                <a:latin typeface="Segoe UI"/>
              </a:rPr>
              <a:t>MEDHA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93522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40" b="0" i="0">
                <a:solidFill>
                  <a:srgbClr val="F8FAFC"/>
                </a:solidFill>
                <a:latin typeface="Segoe UI"/>
              </a:rPr>
              <a:t>offline + generative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66760" y="1783080"/>
            <a:ext cx="3182112" cy="4160520"/>
          </a:xfrm>
          <a:prstGeom prst="roundRect">
            <a:avLst>
              <a:gd name="adj" fmla="val 4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58784" y="192024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D4AF37"/>
                </a:solidFill>
                <a:latin typeface="Segoe UI"/>
              </a:rPr>
              <a:t>THE EMPTY QUADRANT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58784" y="2212848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8FAFC"/>
                </a:solidFill>
                <a:latin typeface="Segoe UI"/>
              </a:rPr>
              <a:t>Offline
+ generative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58784" y="2852928"/>
            <a:ext cx="2743200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Kolibri and DIKSHA are offline but static. Khanmigo and generic AI are generative but cloud-bound. Medha combines both.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558784" y="4572000"/>
            <a:ext cx="2779776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558784" y="46817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10B981"/>
                </a:solidFill>
                <a:latin typeface="Segoe UI"/>
              </a:rPr>
              <a:t>WHY IT MATTERS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58784" y="493776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80" b="0" i="0">
                <a:solidFill>
                  <a:srgbClr val="F8FAFC"/>
                </a:solidFill>
                <a:latin typeface="Segoe UI"/>
              </a:rPr>
              <a:t>Campus-ready deployment without giving up generative explanations.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0B981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03504"/>
            <a:ext cx="1092708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8FAFC"/>
                </a:solidFill>
                <a:latin typeface="Segoe UI"/>
              </a:rPr>
              <a:t>Local-first, end to end.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1417320"/>
            <a:ext cx="15544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0" y="6437376"/>
            <a:ext cx="57607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Segoe UI"/>
              </a:rPr>
              <a:t>13 / 24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881360" y="6547104"/>
            <a:ext cx="658368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437376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64748B"/>
                </a:solidFill>
                <a:latin typeface="Segoe UI"/>
              </a:rPr>
              <a:t>Repository layout: medha/studio, medha/lesson, medha/rag, medha/ingest, medha/render, medha/tts, medha/library.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37360"/>
            <a:ext cx="7543800" cy="694944"/>
          </a:xfrm>
          <a:prstGeom prst="roundRect">
            <a:avLst>
              <a:gd name="adj" fmla="val 4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737360"/>
            <a:ext cx="54864" cy="6949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1847088"/>
            <a:ext cx="15087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0B981"/>
                </a:solidFill>
                <a:latin typeface="Segoe UI"/>
              </a:rPr>
              <a:t>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1847088"/>
            <a:ext cx="56235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F8FAFC"/>
                </a:solidFill>
                <a:latin typeface="Segoe UI"/>
              </a:rPr>
              <a:t>PySide6 Studio  •  OpenGL board  •  checkpoints  •  library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542032"/>
            <a:ext cx="7543800" cy="694944"/>
          </a:xfrm>
          <a:prstGeom prst="roundRect">
            <a:avLst>
              <a:gd name="adj" fmla="val 4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542032"/>
            <a:ext cx="54864" cy="69494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2651760"/>
            <a:ext cx="15087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D4AF37"/>
                </a:solidFill>
                <a:latin typeface="Segoe UI"/>
              </a:rPr>
              <a:t>ORCHESTRATION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651760"/>
            <a:ext cx="56235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F8FAFC"/>
                </a:solidFill>
                <a:latin typeface="Segoe UI"/>
              </a:rPr>
              <a:t>Lesson generator  •  timeline  •  translator  •  evaluation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346704"/>
            <a:ext cx="7543800" cy="694944"/>
          </a:xfrm>
          <a:prstGeom prst="roundRect">
            <a:avLst>
              <a:gd name="adj" fmla="val 4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346704"/>
            <a:ext cx="54864" cy="6949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456432"/>
            <a:ext cx="15087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0B981"/>
                </a:solidFill>
                <a:latin typeface="Segoe UI"/>
              </a:rPr>
              <a:t>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456432"/>
            <a:ext cx="56235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F8FAFC"/>
                </a:solidFill>
                <a:latin typeface="Segoe UI"/>
              </a:rPr>
              <a:t>Qwen3 LLM  •  BGE-M3  •  BGE reranker  •  Kokoro  •  Docling  •  SmolVLM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151376"/>
            <a:ext cx="7543800" cy="694944"/>
          </a:xfrm>
          <a:prstGeom prst="roundRect">
            <a:avLst>
              <a:gd name="adj" fmla="val 4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151376"/>
            <a:ext cx="54864" cy="69494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4261104"/>
            <a:ext cx="15087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D4AF37"/>
                </a:solidFill>
                <a:latin typeface="Segoe UI"/>
              </a:rPr>
              <a:t>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4261104"/>
            <a:ext cx="56235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F8FAFC"/>
                </a:solidFill>
                <a:latin typeface="Segoe UI"/>
              </a:rPr>
              <a:t>Lesson JSON  •  Chroma vectors  •  SQLite index  •  caches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956048"/>
            <a:ext cx="7543800" cy="694944"/>
          </a:xfrm>
          <a:prstGeom prst="roundRect">
            <a:avLst>
              <a:gd name="adj" fmla="val 4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956048"/>
            <a:ext cx="54864" cy="6949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5065776"/>
            <a:ext cx="15087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0B981"/>
                </a:solidFill>
                <a:latin typeface="Segoe UI"/>
              </a:rPr>
              <a:t>RUNTIME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5065776"/>
            <a:ext cx="56235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80" b="0" i="0">
                <a:solidFill>
                  <a:srgbClr val="F8FAFC"/>
                </a:solidFill>
                <a:latin typeface="Segoe UI"/>
              </a:rPr>
              <a:t>Ollama (GPU)  •  ONNX / torch (CPU)  •  OpenGL 3.3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0" y="1737360"/>
            <a:ext cx="3136392" cy="4023360"/>
          </a:xfrm>
          <a:prstGeom prst="roundRect">
            <a:avLst>
              <a:gd name="adj" fmla="val 4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13648" y="1865376"/>
            <a:ext cx="26974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D4AF37"/>
                </a:solidFill>
                <a:latin typeface="Segoe UI"/>
              </a:rPr>
              <a:t>WHY LOCAL-FIRST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13648" y="2212848"/>
            <a:ext cx="2697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F8FAFC"/>
                </a:solidFill>
                <a:latin typeface="Segoe UI"/>
              </a:rPr>
              <a:t>No network dependency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13648" y="246888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19" b="0" i="0">
                <a:solidFill>
                  <a:srgbClr val="94A3B8"/>
                </a:solidFill>
                <a:latin typeface="Segoe UI"/>
              </a:rPr>
              <a:t>Runs on a campus laptop or LAN server.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13648" y="3035808"/>
            <a:ext cx="2697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F8FAFC"/>
                </a:solidFill>
                <a:latin typeface="Segoe UI"/>
              </a:rPr>
              <a:t>Model-swappable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13648" y="3291839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19" b="0" i="0">
                <a:solidFill>
                  <a:srgbClr val="94A3B8"/>
                </a:solidFill>
                <a:latin typeface="Segoe UI"/>
              </a:rPr>
              <a:t>Swap the LLM without touching the renderer.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13648" y="3858768"/>
            <a:ext cx="2697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F8FAFC"/>
                </a:solidFill>
                <a:latin typeface="Segoe UI"/>
              </a:rPr>
              <a:t>Graceful fallbacks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13648" y="41148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19" b="0" i="0">
                <a:solidFill>
                  <a:srgbClr val="94A3B8"/>
                </a:solidFill>
                <a:latin typeface="Segoe UI"/>
              </a:rPr>
              <a:t>No reranker → vector search; no TTS → silent timing.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13648" y="4681728"/>
            <a:ext cx="2697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F8FAFC"/>
                </a:solidFill>
                <a:latin typeface="Segoe UI"/>
              </a:rPr>
              <a:t>Private by default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13648" y="493776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19" b="0" i="0">
                <a:solidFill>
                  <a:srgbClr val="94A3B8"/>
                </a:solidFill>
                <a:latin typeface="Segoe UI"/>
              </a:rPr>
              <a:t>Lecture notes never leave the institution.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0B981"/>
                </a:solidFill>
                <a:latin typeface="Segoe UI"/>
              </a:rPr>
              <a:t>MODEL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03504"/>
            <a:ext cx="1092708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8FAFC"/>
                </a:solidFill>
                <a:latin typeface="Segoe UI"/>
              </a:rPr>
              <a:t>Small, specialized, license-clean models.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1417320"/>
            <a:ext cx="15544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0" y="6437376"/>
            <a:ext cx="57607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Segoe UI"/>
              </a:rPr>
              <a:t>14 / 24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881360" y="6547104"/>
            <a:ext cx="658368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437376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64748B"/>
                </a:solidFill>
                <a:latin typeface="Segoe UI"/>
              </a:rPr>
              <a:t>Source: MODELS.md and models.lock.json. GPU only for the LLM; every helper runs on CPU.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37360"/>
            <a:ext cx="3520440" cy="1810512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83664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0B981"/>
                </a:solidFill>
                <a:latin typeface="Segoe UI"/>
              </a:rPr>
              <a:t>BRAIN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121408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20" b="1" i="0">
                <a:solidFill>
                  <a:srgbClr val="F8FAFC"/>
                </a:solidFill>
                <a:latin typeface="Segoe UI"/>
              </a:rPr>
              <a:t>Qwen3-4B-Instruct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450591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40" b="0" i="0">
                <a:solidFill>
                  <a:srgbClr val="94A3B8"/>
                </a:solidFill>
                <a:latin typeface="Segoe UI"/>
              </a:rPr>
              <a:t>Default LLM. Phi-4-mini and Llama 3.2 fallbacks.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154680"/>
            <a:ext cx="31546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D4AF37"/>
                </a:solidFill>
                <a:latin typeface="Segoe UI"/>
              </a:rPr>
              <a:t>Apache-2.0 / MIT / Llama community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737360"/>
            <a:ext cx="3520440" cy="1810512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883664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0B981"/>
                </a:solidFill>
                <a:latin typeface="Segoe UI"/>
              </a:rPr>
              <a:t>RETRIEVAL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121408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20" b="1" i="0">
                <a:solidFill>
                  <a:srgbClr val="F8FAFC"/>
                </a:solidFill>
                <a:latin typeface="Segoe UI"/>
              </a:rPr>
              <a:t>BGE-M3 + reranker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450591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40" b="0" i="0">
                <a:solidFill>
                  <a:srgbClr val="94A3B8"/>
                </a:solidFill>
                <a:latin typeface="Segoe UI"/>
              </a:rPr>
              <a:t>ONNX 1024-dim embeddings + cross-encoder top-5.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154680"/>
            <a:ext cx="31546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D4AF37"/>
                </a:solidFill>
                <a:latin typeface="Segoe UI"/>
              </a:rPr>
              <a:t>MIT / Apache-2.0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1737360"/>
            <a:ext cx="3520440" cy="1810512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9" y="1883664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0B981"/>
                </a:solidFill>
                <a:latin typeface="Segoe UI"/>
              </a:rPr>
              <a:t>SPEECH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9" y="2121408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20" b="1" i="0">
                <a:solidFill>
                  <a:srgbClr val="F8FAFC"/>
                </a:solidFill>
                <a:latin typeface="Segoe UI"/>
              </a:rPr>
              <a:t>Kokoro-82M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9" y="2450591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40" b="0" i="0">
                <a:solidFill>
                  <a:srgbClr val="94A3B8"/>
                </a:solidFill>
                <a:latin typeface="Segoe UI"/>
              </a:rPr>
              <a:t>24 kHz English TTS, sentence-level cache.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9" y="3154680"/>
            <a:ext cx="31546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D4AF37"/>
                </a:solidFill>
                <a:latin typeface="Segoe UI"/>
              </a:rPr>
              <a:t>Apache-2.0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703320"/>
            <a:ext cx="3520440" cy="1810512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3849624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0B981"/>
                </a:solidFill>
                <a:latin typeface="Segoe UI"/>
              </a:rPr>
              <a:t>DOCUMENTS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4087368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20" b="1" i="0">
                <a:solidFill>
                  <a:srgbClr val="F8FAFC"/>
                </a:solidFill>
                <a:latin typeface="Segoe UI"/>
              </a:rPr>
              <a:t>Docling Heron + TableFormer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4416552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40" b="0" i="0">
                <a:solidFill>
                  <a:srgbClr val="94A3B8"/>
                </a:solidFill>
                <a:latin typeface="Segoe UI"/>
              </a:rPr>
              <a:t>Layout detection and table structure on CPU.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5120640"/>
            <a:ext cx="31546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D4AF37"/>
                </a:solidFill>
                <a:latin typeface="Segoe UI"/>
              </a:rPr>
              <a:t>Apache-2.0 / CDLA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3703320"/>
            <a:ext cx="3520440" cy="1810512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3849624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0B981"/>
                </a:solidFill>
                <a:latin typeface="Segoe UI"/>
              </a:rPr>
              <a:t>VISION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4087368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20" b="1" i="0">
                <a:solidFill>
                  <a:srgbClr val="F8FAFC"/>
                </a:solidFill>
                <a:latin typeface="Segoe UI"/>
              </a:rPr>
              <a:t>SmolVLM-500M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4416552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40" b="0" i="0">
                <a:solidFill>
                  <a:srgbClr val="94A3B8"/>
                </a:solidFill>
                <a:latin typeface="Segoe UI"/>
              </a:rPr>
              <a:t>Figure and diagram captions for teaching material.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5120640"/>
            <a:ext cx="31546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D4AF37"/>
                </a:solidFill>
                <a:latin typeface="Segoe UI"/>
              </a:rPr>
              <a:t>Apache-2.0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19" y="3703320"/>
            <a:ext cx="3520440" cy="1810512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599" y="3849624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0B981"/>
                </a:solidFill>
                <a:latin typeface="Segoe UI"/>
              </a:rPr>
              <a:t>TRANSLATION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9" y="4087368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20" b="1" i="0">
                <a:solidFill>
                  <a:srgbClr val="F8FAFC"/>
                </a:solidFill>
                <a:latin typeface="Segoe UI"/>
              </a:rPr>
              <a:t>IndicTrans2 200M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599" y="4416552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40" b="0" i="0">
                <a:solidFill>
                  <a:srgbClr val="94A3B8"/>
                </a:solidFill>
                <a:latin typeface="Segoe UI"/>
              </a:rPr>
              <a:t>English → Kannada / Hindi; Indic Parler voice.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599" y="5120640"/>
            <a:ext cx="31546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D4AF37"/>
                </a:solidFill>
                <a:latin typeface="Segoe UI"/>
              </a:rPr>
              <a:t>MIT / Apache-2.0 (gated)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715000"/>
            <a:ext cx="10927080" cy="438912"/>
          </a:xfrm>
          <a:prstGeom prst="roundRect">
            <a:avLst>
              <a:gd name="adj" fmla="val 20000"/>
            </a:avLst>
          </a:prstGeom>
          <a:solidFill>
            <a:srgbClr val="3A2F14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5797296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D4AF37"/>
                </a:solidFill>
                <a:latin typeface="Segoe UI"/>
              </a:rPr>
              <a:t>Pinned revisions + license sidecars  •  no scraped weights  •  no non-commercial models in the core demo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0B981"/>
                </a:solidFill>
                <a:latin typeface="Segoe UI"/>
              </a:rPr>
              <a:t>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03504"/>
            <a:ext cx="1092708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8FAFC"/>
                </a:solidFill>
                <a:latin typeface="Segoe UI"/>
              </a:rPr>
              <a:t>Targets, not marketing numbers.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1417320"/>
            <a:ext cx="15544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0" y="6437376"/>
            <a:ext cx="57607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Segoe UI"/>
              </a:rPr>
              <a:t>15 / 24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881360" y="6547104"/>
            <a:ext cx="658368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437376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64748B"/>
                </a:solidFill>
                <a:latin typeface="Segoe UI"/>
              </a:rPr>
              <a:t>Targets and guardrails from config.py; hardware profile is the reference 4–8 GB RAM laptop.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37360"/>
            <a:ext cx="3520440" cy="1417320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84708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B981"/>
                </a:solidFill>
                <a:latin typeface="Segoe UI"/>
              </a:rPr>
              <a:t>60 FPS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33172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D4AF37"/>
                </a:solidFill>
                <a:latin typeface="Segoe UI"/>
              </a:rPr>
              <a:t>render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57860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94A3B8"/>
                </a:solidFill>
                <a:latin typeface="Segoe UI"/>
              </a:rPr>
              <a:t>Vector chalk strokes on reference hardware.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737360"/>
            <a:ext cx="3520440" cy="1417320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84708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B981"/>
                </a:solidFill>
                <a:latin typeface="Segoe UI"/>
              </a:rPr>
              <a:t>±150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33172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D4AF37"/>
                </a:solidFill>
                <a:latin typeface="Segoe UI"/>
              </a:rPr>
              <a:t>audio-visual sync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57860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94A3B8"/>
                </a:solidFill>
                <a:latin typeface="Segoe UI"/>
              </a:rPr>
              <a:t>Audio clock is the master; the board follows.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1737360"/>
            <a:ext cx="3520440" cy="1417320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84708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0B981"/>
                </a:solidFill>
                <a:latin typeface="Segoe UI"/>
              </a:rPr>
              <a:t>4–8 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33172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D4AF37"/>
                </a:solidFill>
                <a:latin typeface="Segoe UI"/>
              </a:rPr>
              <a:t>local 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57860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94A3B8"/>
                </a:solidFill>
                <a:latin typeface="Segoe UI"/>
              </a:rPr>
              <a:t>4-bit LLM on GPU; all helpers on CPU.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383280"/>
            <a:ext cx="10927080" cy="2331720"/>
          </a:xfrm>
          <a:prstGeom prst="roundRect">
            <a:avLst>
              <a:gd name="adj" fmla="val 4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51129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0B981"/>
                </a:solidFill>
                <a:latin typeface="Segoe UI"/>
              </a:rPr>
              <a:t>ENGINEERING GUARDRAILS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3886200"/>
            <a:ext cx="68580" cy="685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3840480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F8FAFC"/>
                </a:solidFill>
                <a:latin typeface="Segoe UI"/>
              </a:rPr>
              <a:t>Schema-constrained 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08736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40" b="0" i="0">
                <a:solidFill>
                  <a:srgbClr val="94A3B8"/>
                </a:solidFill>
                <a:latin typeface="Segoe UI"/>
              </a:rPr>
              <a:t>Ollama grammar + repair pass; invalid actions are dropped, not rendered.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3886200"/>
            <a:ext cx="68580" cy="685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840480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F8FAFC"/>
                </a:solidFill>
                <a:latin typeface="Segoe UI"/>
              </a:rPr>
              <a:t>Deterministic chalk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08736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40" b="0" i="0">
                <a:solidFill>
                  <a:srgbClr val="94A3B8"/>
                </a:solidFill>
                <a:latin typeface="Segoe UI"/>
              </a:rPr>
              <a:t>Seeded wobble and stable screenshots; no random flicker between frames.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4727448"/>
            <a:ext cx="68580" cy="685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4681728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F8FAFC"/>
                </a:solidFill>
                <a:latin typeface="Segoe UI"/>
              </a:rPr>
              <a:t>Graceful degradation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92861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40" b="0" i="0">
                <a:solidFill>
                  <a:srgbClr val="94A3B8"/>
                </a:solidFill>
                <a:latin typeface="Segoe UI"/>
              </a:rPr>
              <a:t>Missing reranker, TTS, or translation never blocks the lesson.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4727448"/>
            <a:ext cx="68580" cy="685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4681728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F8FAFC"/>
                </a:solidFill>
                <a:latin typeface="Segoe UI"/>
              </a:rPr>
              <a:t>Cached everything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492861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40" b="0" i="0">
                <a:solidFill>
                  <a:srgbClr val="94A3B8"/>
                </a:solidFill>
                <a:latin typeface="Segoe UI"/>
              </a:rPr>
              <a:t>Per-sentence WAVs, ingest chunks, image captions, and lesson JSON.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897880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D4AF37"/>
                </a:solidFill>
                <a:latin typeface="Segoe UI"/>
              </a:rPr>
              <a:t>The target is not a benchmark score. It is a lecture a student can follow, replay, and understand.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0B981"/>
                </a:solidFill>
                <a:latin typeface="Segoe UI"/>
              </a:rPr>
              <a:t>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03504"/>
            <a:ext cx="1092708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8FAFC"/>
                </a:solidFill>
                <a:latin typeface="Segoe UI"/>
              </a:rPr>
              <a:t>Five reasons a department says yes.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1417320"/>
            <a:ext cx="15544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0" y="6437376"/>
            <a:ext cx="57607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Segoe UI"/>
              </a:rPr>
              <a:t>16 / 24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881360" y="6547104"/>
            <a:ext cx="658368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437376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64748B"/>
                </a:solidFill>
                <a:latin typeface="Segoe UI"/>
              </a:rPr>
              <a:t>Mapped to the product capabilities described in README.md and the board-action specification.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37360"/>
            <a:ext cx="3520440" cy="1783080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901952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0B981"/>
                </a:solidFill>
                <a:latin typeface="Segoe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94560"/>
            <a:ext cx="311810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8FAFC"/>
                </a:solidFill>
                <a:latin typeface="Segoe UI"/>
              </a:rPr>
              <a:t>Live 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523744"/>
            <a:ext cx="31181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Dynamic derivation construction at 60 FPS target — not flat static slides.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737360"/>
            <a:ext cx="3520440" cy="1783080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1901952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0B981"/>
                </a:solidFill>
                <a:latin typeface="Segoe U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194560"/>
            <a:ext cx="311810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8FAFC"/>
                </a:solidFill>
                <a:latin typeface="Segoe UI"/>
              </a:rPr>
              <a:t>Professor's bridge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523744"/>
            <a:ext cx="31181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Grounded in the professor's own syllabus; doubt analytics show where students stall.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1" y="1737360"/>
            <a:ext cx="3520440" cy="1783080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901952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0B981"/>
                </a:solidFill>
                <a:latin typeface="Segoe U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194560"/>
            <a:ext cx="311810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8FAFC"/>
                </a:solidFill>
                <a:latin typeface="Segoe UI"/>
              </a:rPr>
              <a:t>Offline campus install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523744"/>
            <a:ext cx="31181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₹0 cloud inference per student; runs locally on 4–8 GB RAM hardware.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67328"/>
            <a:ext cx="5321808" cy="1783080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3931920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0B981"/>
                </a:solidFill>
                <a:latin typeface="Segoe U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224528"/>
            <a:ext cx="491947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8FAFC"/>
                </a:solidFill>
                <a:latin typeface="Segoe UI"/>
              </a:rPr>
              <a:t>Regional voice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4553712"/>
            <a:ext cx="4919472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Kannada and Hindi voice today; Telugu language pack on the roadmap.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3767328"/>
            <a:ext cx="5321808" cy="1783080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7376" y="3931920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0B981"/>
                </a:solidFill>
                <a:latin typeface="Segoe U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4224528"/>
            <a:ext cx="491947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8FAFC"/>
                </a:solidFill>
                <a:latin typeface="Segoe UI"/>
              </a:rPr>
              <a:t>Grounded RAG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4553712"/>
            <a:ext cx="4919472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Answers cite college notes, not the open web; LaTeX is protected through translation.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80644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19" b="1" i="0">
                <a:solidFill>
                  <a:srgbClr val="D4AF37"/>
                </a:solidFill>
                <a:latin typeface="Segoe UI"/>
              </a:rPr>
              <a:t>Each USP maps to something the demo can show — not a future promise.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0B981"/>
                </a:solidFill>
                <a:latin typeface="Segoe U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03504"/>
            <a:ext cx="1092708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8FAFC"/>
                </a:solidFill>
                <a:latin typeface="Segoe UI"/>
              </a:rPr>
              <a:t>College-first revenue, self-funded expansion.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1417320"/>
            <a:ext cx="15544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0" y="6437376"/>
            <a:ext cx="57607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Segoe UI"/>
              </a:rPr>
              <a:t>17 / 24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881360" y="6547104"/>
            <a:ext cx="658368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437376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64748B"/>
                </a:solidFill>
                <a:latin typeface="Segoe UI"/>
              </a:rPr>
              <a:t>Pricing is a proposed commercial model for pilot validation, not a published price list.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37360"/>
            <a:ext cx="5669280" cy="4160520"/>
          </a:xfrm>
          <a:prstGeom prst="roundRect">
            <a:avLst>
              <a:gd name="adj" fmla="val 4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74519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0B981"/>
                </a:solidFill>
                <a:latin typeface="Segoe UI"/>
              </a:rPr>
              <a:t>PHASE 1  •  B2B COLLEGE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40280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F8FAFC"/>
                </a:solidFill>
                <a:latin typeface="Segoe UI"/>
              </a:rPr>
              <a:t>Department license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80" b="0" i="0">
                <a:solidFill>
                  <a:srgbClr val="D4AF37"/>
                </a:solidFill>
                <a:latin typeface="Segoe UI"/>
              </a:rPr>
              <a:t>₹50,000 – ₹1,50,000 / year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514600"/>
            <a:ext cx="4937760" cy="128016"/>
          </a:xfrm>
          <a:prstGeom prst="roundRect">
            <a:avLst>
              <a:gd name="adj" fmla="val 4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2514600"/>
            <a:ext cx="4937760" cy="128016"/>
          </a:xfrm>
          <a:prstGeom prst="roundRect">
            <a:avLst>
              <a:gd name="adj" fmla="val 4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688336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94A3B8"/>
                </a:solidFill>
                <a:latin typeface="Segoe UI"/>
              </a:rPr>
              <a:t>offline install, updates, ingestion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26440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F8FAFC"/>
                </a:solidFill>
                <a:latin typeface="Segoe UI"/>
              </a:rPr>
              <a:t>Teacher insights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264408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80" b="0" i="0">
                <a:solidFill>
                  <a:srgbClr val="D4AF37"/>
                </a:solidFill>
                <a:latin typeface="Segoe UI"/>
              </a:rPr>
              <a:t>₹10,000 – ₹30,000 / year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3538728"/>
            <a:ext cx="4937760" cy="128016"/>
          </a:xfrm>
          <a:prstGeom prst="roundRect">
            <a:avLst>
              <a:gd name="adj" fmla="val 4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" y="3538728"/>
            <a:ext cx="1975104" cy="128016"/>
          </a:xfrm>
          <a:prstGeom prst="roundRect">
            <a:avLst>
              <a:gd name="adj" fmla="val 45000"/>
            </a:avLst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712464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94A3B8"/>
                </a:solidFill>
                <a:latin typeface="Segoe UI"/>
              </a:rPr>
              <a:t>doubt analytics and cohort gaps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28853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80" b="1" i="0">
                <a:solidFill>
                  <a:srgbClr val="F8FAFC"/>
                </a:solidFill>
                <a:latin typeface="Segoe UI"/>
              </a:rPr>
              <a:t>Regional language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288536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780" b="0" i="0">
                <a:solidFill>
                  <a:srgbClr val="D4AF37"/>
                </a:solidFill>
                <a:latin typeface="Segoe UI"/>
              </a:rPr>
              <a:t>₹10,000 – ₹30,000 / year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562856"/>
            <a:ext cx="4937760" cy="128016"/>
          </a:xfrm>
          <a:prstGeom prst="roundRect">
            <a:avLst>
              <a:gd name="adj" fmla="val 4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8680" y="4562856"/>
            <a:ext cx="1975104" cy="128016"/>
          </a:xfrm>
          <a:prstGeom prst="roundRect">
            <a:avLst>
              <a:gd name="adj" fmla="val 45000"/>
            </a:avLst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736592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94A3B8"/>
                </a:solidFill>
                <a:latin typeface="Segoe UI"/>
              </a:rPr>
              <a:t>per language, per department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376672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0B981"/>
                </a:solidFill>
                <a:latin typeface="Segoe UI"/>
              </a:rPr>
              <a:t>Land with one department. Expand across affiliated colleges.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0528" y="1737360"/>
            <a:ext cx="5029200" cy="4160520"/>
          </a:xfrm>
          <a:prstGeom prst="roundRect">
            <a:avLst>
              <a:gd name="adj" fmla="val 4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9984" y="1874519"/>
            <a:ext cx="44805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D4AF37"/>
                </a:solidFill>
                <a:latin typeface="Segoe UI"/>
              </a:rPr>
              <a:t>PHASE 2  •  SCHOOL EXPANSION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2176272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8FAFC"/>
                </a:solidFill>
                <a:latin typeface="Segoe UI"/>
              </a:rPr>
              <a:t>₹199 – ₹499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9984" y="2697480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per student / month  •  parent subscription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729984" y="3035808"/>
            <a:ext cx="4562856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729984" y="3163824"/>
            <a:ext cx="4480560" cy="1234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</a:pPr>
            <a:r>
              <a:rPr sz="919" b="0" i="0">
                <a:solidFill>
                  <a:srgbClr val="F8FAFC"/>
                </a:solidFill>
                <a:latin typeface="Segoe UI"/>
              </a:rPr>
              <a:t>Self-funded by Phase 1 college profits. Hosted B2C tutoring launches only after B2B revenue covers GPU server scaling.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29984" y="4645152"/>
            <a:ext cx="1417320" cy="310896"/>
          </a:xfrm>
          <a:prstGeom prst="roundRect">
            <a:avLst>
              <a:gd name="adj" fmla="val 35000"/>
            </a:avLst>
          </a:prstGeom>
          <a:solidFill>
            <a:srgbClr val="0E2A24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9984" y="4645152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0B981"/>
                </a:solidFill>
                <a:latin typeface="Segoe UI"/>
              </a:rPr>
              <a:t>No VC needed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75320" y="4645152"/>
            <a:ext cx="1600200" cy="310896"/>
          </a:xfrm>
          <a:prstGeom prst="roundRect">
            <a:avLst>
              <a:gd name="adj" fmla="val 35000"/>
            </a:avLst>
          </a:prstGeom>
          <a:solidFill>
            <a:srgbClr val="0E2A24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4645152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0B981"/>
                </a:solidFill>
                <a:latin typeface="Segoe UI"/>
              </a:rPr>
              <a:t>Campus-first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9984" y="5102352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40" b="0" i="1">
                <a:solidFill>
                  <a:srgbClr val="94A3B8"/>
                </a:solidFill>
                <a:latin typeface="Segoe UI"/>
              </a:rPr>
              <a:t>The B2B wedge funds the B2C platform instead of subsidizing it.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016752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D4AF37"/>
                </a:solidFill>
                <a:latin typeface="Segoe UI"/>
              </a:rPr>
              <a:t>Revenue is tied to departments, not per-token inference — the economics improve as adoption grows.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0B981"/>
                </a:solidFill>
                <a:latin typeface="Segoe UI"/>
              </a:rPr>
              <a:t>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03504"/>
            <a:ext cx="1092708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8FAFC"/>
                </a:solidFill>
                <a:latin typeface="Segoe UI"/>
              </a:rPr>
              <a:t>Why the numbers work.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1417320"/>
            <a:ext cx="15544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0" y="6437376"/>
            <a:ext cx="57607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Segoe UI"/>
              </a:rPr>
              <a:t>18 / 24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881360" y="6547104"/>
            <a:ext cx="658368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437376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64748B"/>
                </a:solidFill>
                <a:latin typeface="Segoe UI"/>
              </a:rPr>
              <a:t>Illustrative assumptions: 240 students per department; ₹1,00,000 annual license; $20/seat/month cloud comparison; $1 ≈ ₹83. Validate in pilot.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37360"/>
            <a:ext cx="5166360" cy="4160520"/>
          </a:xfrm>
          <a:prstGeom prst="roundRect">
            <a:avLst>
              <a:gd name="adj" fmla="val 4000"/>
            </a:avLst>
          </a:prstGeom>
          <a:solidFill>
            <a:srgbClr val="0E2A24"/>
          </a:solidFill>
          <a:ln w="1143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74519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0B981"/>
                </a:solidFill>
                <a:latin typeface="Segoe UI"/>
              </a:rPr>
              <a:t>MEDHA  •  ILLUSTRATIVE DEPARTMENT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17627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F8FAFC"/>
                </a:solidFill>
                <a:latin typeface="Segoe UI"/>
              </a:rPr>
              <a:t>₹417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51760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94A3B8"/>
                </a:solidFill>
                <a:latin typeface="Segoe UI"/>
              </a:rPr>
              <a:t>per student /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9260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D4AF37"/>
                </a:solidFill>
                <a:latin typeface="Segoe UI"/>
              </a:rPr>
              <a:t>≈ ₹35 per student / month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8680" y="3383280"/>
            <a:ext cx="4709160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3566160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94A3B8"/>
                </a:solidFill>
                <a:latin typeface="Segoe UI"/>
              </a:rPr>
              <a:t>Department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566160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80" b="1" i="0">
                <a:solidFill>
                  <a:srgbClr val="F8FAFC"/>
                </a:solidFill>
                <a:latin typeface="Segoe UI"/>
              </a:rPr>
              <a:t>240 students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04164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94A3B8"/>
                </a:solidFill>
                <a:latin typeface="Segoe UI"/>
              </a:rPr>
              <a:t>Annual license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041648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80" b="1" i="0">
                <a:solidFill>
                  <a:srgbClr val="F8FAFC"/>
                </a:solidFill>
                <a:latin typeface="Segoe UI"/>
              </a:rPr>
              <a:t>₹1,00,000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517136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94A3B8"/>
                </a:solidFill>
                <a:latin typeface="Segoe UI"/>
              </a:rPr>
              <a:t>Cloud inference per student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4517136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80" b="1" i="0">
                <a:solidFill>
                  <a:srgbClr val="F8FAFC"/>
                </a:solidFill>
                <a:latin typeface="Segoe UI"/>
              </a:rPr>
              <a:t>₹0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992624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94A3B8"/>
                </a:solidFill>
                <a:latin typeface="Segoe UI"/>
              </a:rPr>
              <a:t>Marginal cost of one more rewatch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4992624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80" b="1" i="0">
                <a:solidFill>
                  <a:srgbClr val="F8FAFC"/>
                </a:solidFill>
                <a:latin typeface="Segoe UI"/>
              </a:rPr>
              <a:t>≈ ₹0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1737360"/>
            <a:ext cx="5468112" cy="4160520"/>
          </a:xfrm>
          <a:prstGeom prst="roundRect">
            <a:avLst>
              <a:gd name="adj" fmla="val 4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874519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D4AF37"/>
                </a:solidFill>
                <a:latin typeface="Segoe UI"/>
              </a:rPr>
              <a:t>CLOUD CHATBOT  •  SAME 240 STUDENTS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17627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D4AF37"/>
                </a:solidFill>
                <a:latin typeface="Segoe UI"/>
              </a:rPr>
              <a:t>₹3.98 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651760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19" b="0" i="0">
                <a:solidFill>
                  <a:srgbClr val="94A3B8"/>
                </a:solidFill>
                <a:latin typeface="Segoe UI"/>
              </a:rPr>
              <a:t>per month  •  $20/seat × 240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9260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19" b="1" i="0">
                <a:solidFill>
                  <a:srgbClr val="F8FAFC"/>
                </a:solidFill>
                <a:latin typeface="Segoe UI"/>
              </a:rPr>
              <a:t>≈ ₹47.8 L per year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309360" y="3383280"/>
            <a:ext cx="5029200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09360" y="35661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D4AF37"/>
                </a:solidFill>
                <a:latin typeface="Segoe UI"/>
              </a:rPr>
              <a:t>≈ 48× the department license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977639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840" b="0" i="0">
                <a:solidFill>
                  <a:srgbClr val="94A3B8"/>
                </a:solidFill>
                <a:latin typeface="Segoe UI"/>
              </a:rPr>
              <a:t>The comparison is illustrative and not feature-equivalent, but it shows why campuses prefer a fixed local license over per-seat cloud billing.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5074920"/>
            <a:ext cx="1737360" cy="329184"/>
          </a:xfrm>
          <a:prstGeom prst="roundRect">
            <a:avLst>
              <a:gd name="adj" fmla="val 35000"/>
            </a:avLst>
          </a:prstGeom>
          <a:solidFill>
            <a:srgbClr val="0E2A24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5074920"/>
            <a:ext cx="173736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10B981"/>
                </a:solidFill>
                <a:latin typeface="Segoe UI"/>
              </a:rPr>
              <a:t>Fixed cost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5074920"/>
            <a:ext cx="1828800" cy="329184"/>
          </a:xfrm>
          <a:prstGeom prst="roundRect">
            <a:avLst>
              <a:gd name="adj" fmla="val 35000"/>
            </a:avLst>
          </a:prstGeom>
          <a:solidFill>
            <a:srgbClr val="0E2A24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5074920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10B981"/>
                </a:solidFill>
                <a:latin typeface="Segoe UI"/>
              </a:rPr>
              <a:t>Unlimited rewatches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016752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0B981"/>
                </a:solidFill>
                <a:latin typeface="Segoe UI"/>
              </a:rPr>
              <a:t>One department covers support; every additional department is mostly margin.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0B981"/>
                </a:solidFill>
                <a:latin typeface="Segoe U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03504"/>
            <a:ext cx="1092708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8FAFC"/>
                </a:solidFill>
                <a:latin typeface="Segoe UI"/>
              </a:rPr>
              <a:t>From one semester to a university network.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1417320"/>
            <a:ext cx="15544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0" y="6437376"/>
            <a:ext cx="57607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Segoe UI"/>
              </a:rPr>
              <a:t>19 / 24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881360" y="6547104"/>
            <a:ext cx="658368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437376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64748B"/>
                </a:solidFill>
                <a:latin typeface="Segoe UI"/>
              </a:rPr>
              <a:t>Execution plan proposed for a 24-month horizon; pilots define the actual timeline.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2395728"/>
            <a:ext cx="10332720" cy="0"/>
          </a:xfrm>
          <a:prstGeom prst="line">
            <a:avLst/>
          </a:prstGeom>
          <a:ln w="254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755648" y="2176272"/>
            <a:ext cx="438912" cy="438912"/>
          </a:xfrm>
          <a:prstGeom prst="ellipse">
            <a:avLst/>
          </a:prstGeom>
          <a:solidFill>
            <a:srgbClr val="0E2A24"/>
          </a:solidFill>
          <a:ln w="1524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55648" y="2249424"/>
            <a:ext cx="43891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0B981"/>
                </a:solidFill>
                <a:latin typeface="Segoe UI"/>
              </a:rPr>
              <a:t>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61488"/>
            <a:ext cx="2596896" cy="2606040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2889504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D4AF37"/>
                </a:solidFill>
                <a:latin typeface="Segoe UI"/>
              </a:rPr>
              <a:t>SEMESTER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15468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8FAFC"/>
                </a:solidFill>
                <a:latin typeface="Segoe UI"/>
              </a:rPr>
              <a:t>Free pilot in 2–3 engineering colleges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767328"/>
            <a:ext cx="228600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40" b="0" i="0">
                <a:solidFill>
                  <a:srgbClr val="94A3B8"/>
                </a:solidFill>
                <a:latin typeface="Segoe UI"/>
              </a:rPr>
              <a:t>One department per campus; measure prep hours and repeat doubts.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55263" y="2395728"/>
            <a:ext cx="146305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517136" y="2176272"/>
            <a:ext cx="438912" cy="438912"/>
          </a:xfrm>
          <a:prstGeom prst="ellipse">
            <a:avLst/>
          </a:prstGeom>
          <a:solidFill>
            <a:srgbClr val="0E2A24"/>
          </a:solidFill>
          <a:ln w="1524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7136" y="2249424"/>
            <a:ext cx="43891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0B981"/>
                </a:solidFill>
                <a:latin typeface="Segoe UI"/>
              </a:rPr>
              <a:t>02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01568" y="2761488"/>
            <a:ext cx="2596896" cy="2606040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2889504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D4AF37"/>
                </a:solidFill>
                <a:latin typeface="Segoe UI"/>
              </a:rPr>
              <a:t>SEMESTER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15468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8FAFC"/>
                </a:solidFill>
                <a:latin typeface="Segoe UI"/>
              </a:rPr>
              <a:t>Turn pilots into case studies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767328"/>
            <a:ext cx="228600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40" b="0" i="0">
                <a:solidFill>
                  <a:srgbClr val="94A3B8"/>
                </a:solidFill>
                <a:latin typeface="Segoe UI"/>
              </a:rPr>
              <a:t>Publish pass-rate and doubt-resolution deltas; add Telugu pack.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6160" y="4754880"/>
            <a:ext cx="1325880" cy="256032"/>
          </a:xfrm>
          <a:prstGeom prst="roundRect">
            <a:avLst>
              <a:gd name="adj" fmla="val 35000"/>
            </a:avLst>
          </a:prstGeom>
          <a:solidFill>
            <a:srgbClr val="0E2A24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4754880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10B981"/>
                </a:solidFill>
                <a:latin typeface="Segoe UI"/>
              </a:rPr>
              <a:t>Telugu pack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16752" y="2395728"/>
            <a:ext cx="146304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278624" y="2176272"/>
            <a:ext cx="438912" cy="438912"/>
          </a:xfrm>
          <a:prstGeom prst="ellipse">
            <a:avLst/>
          </a:prstGeom>
          <a:solidFill>
            <a:srgbClr val="0E2A24"/>
          </a:solidFill>
          <a:ln w="1524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78624" y="2249424"/>
            <a:ext cx="43891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0B981"/>
                </a:solidFill>
                <a:latin typeface="Segoe UI"/>
              </a:rPr>
              <a:t>03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63056" y="2761488"/>
            <a:ext cx="2596896" cy="2606040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2889504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D4AF37"/>
                </a:solidFill>
                <a:latin typeface="Segoe UI"/>
              </a:rPr>
              <a:t>YEAR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315468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8FAFC"/>
                </a:solidFill>
                <a:latin typeface="Segoe UI"/>
              </a:rPr>
              <a:t>Department licensing across affiliates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3767328"/>
            <a:ext cx="228600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40" b="0" i="0">
                <a:solidFill>
                  <a:srgbClr val="94A3B8"/>
                </a:solidFill>
                <a:latin typeface="Segoe UI"/>
              </a:rPr>
              <a:t>Target VTU / JNTU affiliate networks; add teacher dashboard.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778240" y="2395728"/>
            <a:ext cx="146304" cy="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10040112" y="2176272"/>
            <a:ext cx="438912" cy="438912"/>
          </a:xfrm>
          <a:prstGeom prst="ellipse">
            <a:avLst/>
          </a:prstGeom>
          <a:solidFill>
            <a:srgbClr val="0E2A24"/>
          </a:solidFill>
          <a:ln w="1524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40112" y="2249424"/>
            <a:ext cx="43891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0B981"/>
                </a:solidFill>
                <a:latin typeface="Segoe UI"/>
              </a:rPr>
              <a:t>04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24544" y="2761488"/>
            <a:ext cx="2596896" cy="2606040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9136" y="2889504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D4AF37"/>
                </a:solidFill>
                <a:latin typeface="Segoe UI"/>
              </a:rPr>
              <a:t>YEAR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315468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8FAFC"/>
                </a:solidFill>
                <a:latin typeface="Segoe UI"/>
              </a:rPr>
              <a:t>Hosted B2C school tutoring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89136" y="3767328"/>
            <a:ext cx="228600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40" b="0" i="0">
                <a:solidFill>
                  <a:srgbClr val="94A3B8"/>
                </a:solidFill>
                <a:latin typeface="Segoe UI"/>
              </a:rPr>
              <a:t>Launch only when B2B revenue covers GPU server scaling.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80644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D4AF37"/>
                </a:solidFill>
                <a:latin typeface="Segoe UI"/>
              </a:rPr>
              <a:t>Land narrow. Prove learning outcomes. Expand by affiliation, not by ad spend.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0B981"/>
                </a:solidFill>
                <a:latin typeface="Segoe U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03504"/>
            <a:ext cx="1092708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8FAFC"/>
                </a:solidFill>
                <a:latin typeface="Segoe UI"/>
              </a:rPr>
              <a:t>Team Kanon.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1417320"/>
            <a:ext cx="15544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0" y="6437376"/>
            <a:ext cx="57607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Segoe UI"/>
              </a:rPr>
              <a:t>20 / 24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881360" y="6547104"/>
            <a:ext cx="658368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437376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64748B"/>
                </a:solidFill>
                <a:latin typeface="Segoe UI"/>
              </a:rPr>
              <a:t>Roles as provided by the team; no contact details included.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37360"/>
            <a:ext cx="2596896" cy="3749039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20240"/>
            <a:ext cx="621792" cy="621792"/>
          </a:xfrm>
          <a:prstGeom prst="ellipse">
            <a:avLst/>
          </a:prstGeom>
          <a:solidFill>
            <a:srgbClr val="0E2A24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04825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0B981"/>
                </a:solidFill>
                <a:latin typeface="Segoe UI"/>
              </a:rPr>
              <a:t>PN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67004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20" b="1" i="0">
                <a:solidFill>
                  <a:srgbClr val="F8FAFC"/>
                </a:solidFill>
                <a:latin typeface="Segoe UI"/>
              </a:rPr>
              <a:t>Pranav 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297180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D4AF37"/>
                </a:solidFill>
                <a:latin typeface="Segoe UI"/>
              </a:rPr>
              <a:t>Team Lead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3218688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0B981"/>
                </a:solidFill>
                <a:latin typeface="Segoe UI"/>
              </a:rPr>
              <a:t>Backend &amp; Tech Analysis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1247" y="3529584"/>
            <a:ext cx="2176273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1247" y="3639312"/>
            <a:ext cx="2194560" cy="155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860" b="0" i="0">
                <a:solidFill>
                  <a:srgbClr val="94A3B8"/>
                </a:solidFill>
                <a:latin typeface="Segoe UI"/>
              </a:rPr>
              <a:t>Owns the core engine, data flow, and technical feasibility.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1737360"/>
            <a:ext cx="2596896" cy="3749039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02736" y="1920240"/>
            <a:ext cx="621792" cy="621792"/>
          </a:xfrm>
          <a:prstGeom prst="ellipse">
            <a:avLst/>
          </a:prstGeom>
          <a:solidFill>
            <a:srgbClr val="0E2A24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204825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0B981"/>
                </a:solidFill>
                <a:latin typeface="Segoe UI"/>
              </a:rPr>
              <a:t>DR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2736" y="267004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20" b="1" i="0">
                <a:solidFill>
                  <a:srgbClr val="F8FAFC"/>
                </a:solidFill>
                <a:latin typeface="Segoe UI"/>
              </a:rPr>
              <a:t>Disha 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2736" y="297180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D4AF37"/>
                </a:solidFill>
                <a:latin typeface="Segoe UI"/>
              </a:rPr>
              <a:t>Creative Works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2736" y="3218688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0B981"/>
                </a:solidFill>
                <a:latin typeface="Segoe UI"/>
              </a:rPr>
              <a:t>UI/UX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602736" y="3529584"/>
            <a:ext cx="2176272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602736" y="3639312"/>
            <a:ext cx="2194560" cy="155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860" b="0" i="0">
                <a:solidFill>
                  <a:srgbClr val="94A3B8"/>
                </a:solidFill>
                <a:latin typeface="Segoe UI"/>
              </a:rPr>
              <a:t>Owns the Studio experience, visual system, and demo polish.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63056" y="1737360"/>
            <a:ext cx="2596896" cy="3749039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1920240"/>
            <a:ext cx="621792" cy="621792"/>
          </a:xfrm>
          <a:prstGeom prst="ellipse">
            <a:avLst/>
          </a:prstGeom>
          <a:solidFill>
            <a:srgbClr val="0E2A24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204825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0B981"/>
                </a:solidFill>
                <a:latin typeface="Segoe UI"/>
              </a:rPr>
              <a:t>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4224" y="267004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20" b="1" i="0">
                <a:solidFill>
                  <a:srgbClr val="F8FAFC"/>
                </a:solidFill>
                <a:latin typeface="Segoe UI"/>
              </a:rPr>
              <a:t>Soyal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4224" y="297180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D4AF37"/>
                </a:solidFill>
                <a:latin typeface="Segoe UI"/>
              </a:rPr>
              <a:t>Market Analyst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4224" y="3218688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0B981"/>
                </a:solidFill>
                <a:latin typeface="Segoe UI"/>
              </a:rPr>
              <a:t>Market &amp; Competitors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364224" y="3529584"/>
            <a:ext cx="2176272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364224" y="3639312"/>
            <a:ext cx="2194560" cy="155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860" b="0" i="0">
                <a:solidFill>
                  <a:srgbClr val="94A3B8"/>
                </a:solidFill>
                <a:latin typeface="Segoe UI"/>
              </a:rPr>
              <a:t>Owns sizing, competitor teardown, and pricing logic.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24544" y="1737360"/>
            <a:ext cx="2596896" cy="3749039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25712" y="1920240"/>
            <a:ext cx="621792" cy="621792"/>
          </a:xfrm>
          <a:prstGeom prst="ellipse">
            <a:avLst/>
          </a:prstGeom>
          <a:solidFill>
            <a:srgbClr val="0E2A24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25712" y="204825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0B981"/>
                </a:solidFill>
                <a:latin typeface="Segoe UI"/>
              </a:rPr>
              <a:t>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25712" y="267004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20" b="1" i="0">
                <a:solidFill>
                  <a:srgbClr val="F8FAFC"/>
                </a:solidFill>
                <a:latin typeface="Segoe UI"/>
              </a:rPr>
              <a:t>Kruthika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25712" y="297180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D4AF37"/>
                </a:solidFill>
                <a:latin typeface="Segoe UI"/>
              </a:rPr>
              <a:t>New Member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5712" y="3218688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0B981"/>
                </a:solidFill>
                <a:latin typeface="Segoe UI"/>
              </a:rPr>
              <a:t>Product &amp; Research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125712" y="3529584"/>
            <a:ext cx="2176272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125712" y="3639312"/>
            <a:ext cx="2194560" cy="155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860" b="0" i="0">
                <a:solidFill>
                  <a:srgbClr val="94A3B8"/>
                </a:solidFill>
                <a:latin typeface="Segoe UI"/>
              </a:rPr>
              <a:t>Adds fresh perspective across research and rollout.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5650992"/>
            <a:ext cx="10927080" cy="512064"/>
          </a:xfrm>
          <a:prstGeom prst="roundRect">
            <a:avLst>
              <a:gd name="adj" fmla="val 20000"/>
            </a:avLst>
          </a:prstGeom>
          <a:solidFill>
            <a:srgbClr val="0E2A24"/>
          </a:solidFill>
          <a:ln w="9525">
            <a:solidFill>
              <a:srgbClr val="064E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742432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19" b="1" i="0">
                <a:solidFill>
                  <a:srgbClr val="10B981"/>
                </a:solidFill>
                <a:latin typeface="Segoe UI"/>
              </a:rPr>
              <a:t>Backend depth  •  UI/UX craft  •  market rigor  •  fresh research perspective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0B981"/>
                </a:solidFill>
                <a:latin typeface="Segoe UI"/>
              </a:rPr>
              <a:t>POLICY TAILWINDS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03504"/>
            <a:ext cx="1092708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8FAFC"/>
                </a:solidFill>
                <a:latin typeface="Segoe UI"/>
              </a:rPr>
              <a:t>Government support already exists.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1417320"/>
            <a:ext cx="15544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0" y="6437376"/>
            <a:ext cx="57607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Segoe UI"/>
              </a:rPr>
              <a:t>21 / 24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881360" y="6547104"/>
            <a:ext cx="658368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437376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64748B"/>
                </a:solidFill>
                <a:latin typeface="Segoe UI"/>
              </a:rPr>
              <a:t>Scheme names and headline benefits as publicly described; eligibility and amounts subject to approval.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37360"/>
            <a:ext cx="3520440" cy="3246120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874519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10B981"/>
                </a:solidFill>
                <a:latin typeface="Segoe UI"/>
              </a:rPr>
              <a:t>DPIIT STARTUP INDIA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57984"/>
            <a:ext cx="310896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8FAFC"/>
                </a:solidFill>
                <a:latin typeface="Segoe UI"/>
              </a:rPr>
              <a:t>100% income-tax exemption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761488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For 3 years under Section 80-IAC, plus an 80% patent rebate.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7" y="4389120"/>
            <a:ext cx="960120" cy="274320"/>
          </a:xfrm>
          <a:prstGeom prst="roundRect">
            <a:avLst>
              <a:gd name="adj" fmla="val 35000"/>
            </a:avLst>
          </a:prstGeom>
          <a:solidFill>
            <a:srgbClr val="0E2A24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438912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60" b="1" i="0">
                <a:solidFill>
                  <a:srgbClr val="10B981"/>
                </a:solidFill>
                <a:latin typeface="Segoe UI"/>
              </a:rPr>
              <a:t>Recognition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737360"/>
            <a:ext cx="3520440" cy="3246120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1874519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10B981"/>
                </a:solidFill>
                <a:latin typeface="Segoe UI"/>
              </a:rPr>
              <a:t>MSME CGTMSE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157984"/>
            <a:ext cx="310896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8FAFC"/>
                </a:solidFill>
                <a:latin typeface="Segoe UI"/>
              </a:rPr>
              <a:t>₹2–5 Crore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2761488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Collateral-free debt funding for expansion and working capital.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44568" y="4389120"/>
            <a:ext cx="960120" cy="274320"/>
          </a:xfrm>
          <a:prstGeom prst="roundRect">
            <a:avLst>
              <a:gd name="adj" fmla="val 35000"/>
            </a:avLst>
          </a:prstGeom>
          <a:solidFill>
            <a:srgbClr val="0E2A24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438912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60" b="1" i="0">
                <a:solidFill>
                  <a:srgbClr val="10B981"/>
                </a:solidFill>
                <a:latin typeface="Segoe UI"/>
              </a:rPr>
              <a:t>Credit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19" y="1737360"/>
            <a:ext cx="3520440" cy="3246120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1874519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1" i="0">
                <a:solidFill>
                  <a:srgbClr val="10B981"/>
                </a:solidFill>
                <a:latin typeface="Segoe UI"/>
              </a:rPr>
              <a:t>INNOVATION GRANTS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2157984"/>
            <a:ext cx="310896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8FAFC"/>
                </a:solidFill>
                <a:latin typeface="Segoe UI"/>
              </a:rPr>
              <a:t>₹10–50 Lakh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2761488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MeitY SAMRIDH and DST-SEED grants for EdTech accessibility.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47888" y="4389120"/>
            <a:ext cx="960120" cy="274320"/>
          </a:xfrm>
          <a:prstGeom prst="roundRect">
            <a:avLst>
              <a:gd name="adj" fmla="val 35000"/>
            </a:avLst>
          </a:prstGeom>
          <a:solidFill>
            <a:srgbClr val="0E2A24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438912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60" b="1" i="0">
                <a:solidFill>
                  <a:srgbClr val="10B981"/>
                </a:solidFill>
                <a:latin typeface="Segoe UI"/>
              </a:rPr>
              <a:t>Grant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230368"/>
            <a:ext cx="10927080" cy="713232"/>
          </a:xfrm>
          <a:prstGeom prst="roundRect">
            <a:avLst>
              <a:gd name="adj" fmla="val 5000"/>
            </a:avLst>
          </a:prstGeom>
          <a:solidFill>
            <a:srgbClr val="3A2F14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340096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20" b="1" i="0">
                <a:solidFill>
                  <a:srgbClr val="D4AF37"/>
                </a:solidFill>
                <a:latin typeface="Segoe UI"/>
              </a:rPr>
              <a:t>Aligns with NEP 2020, UDISE+ digital infrastructure, and regional-language mandates.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614416"/>
            <a:ext cx="104241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94A3B8"/>
                </a:solidFill>
                <a:latin typeface="Segoe UI"/>
              </a:rPr>
              <a:t>The pitch is not asking for a new ecosystem. It plugs into one that already has budget and policy cover.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0B981"/>
                </a:solidFill>
                <a:latin typeface="Segoe UI"/>
              </a:rPr>
              <a:t>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03504"/>
            <a:ext cx="1092708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8FAFC"/>
                </a:solidFill>
                <a:latin typeface="Segoe UI"/>
              </a:rPr>
              <a:t>What could go wrong — and how we de-risk it.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1417320"/>
            <a:ext cx="15544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0" y="6437376"/>
            <a:ext cx="57607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Segoe UI"/>
              </a:rPr>
              <a:t>22 / 24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881360" y="6547104"/>
            <a:ext cx="658368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437376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64748B"/>
                </a:solidFill>
                <a:latin typeface="Segoe UI"/>
              </a:rPr>
              <a:t>Mitigations reflect the current implementation; remaining risks are validated in pilot.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82496"/>
            <a:ext cx="3520440" cy="402336"/>
          </a:xfrm>
          <a:prstGeom prst="roundRect">
            <a:avLst>
              <a:gd name="adj" fmla="val 3000"/>
            </a:avLst>
          </a:prstGeom>
          <a:solidFill>
            <a:srgbClr val="172742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755648"/>
            <a:ext cx="326440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D4AF37"/>
                </a:solidFill>
                <a:latin typeface="Segoe UI"/>
              </a:rPr>
              <a:t>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682496"/>
            <a:ext cx="7296912" cy="402336"/>
          </a:xfrm>
          <a:prstGeom prst="roundRect">
            <a:avLst>
              <a:gd name="adj" fmla="val 3000"/>
            </a:avLst>
          </a:prstGeom>
          <a:solidFill>
            <a:srgbClr val="172742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9976" y="1755648"/>
            <a:ext cx="7040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0B981"/>
                </a:solidFill>
                <a:latin typeface="Segoe UI"/>
              </a:rPr>
              <a:t>MITIGATION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176272"/>
            <a:ext cx="3520440" cy="713232"/>
          </a:xfrm>
          <a:prstGeom prst="roundRect">
            <a:avLst>
              <a:gd name="adj" fmla="val 3000"/>
            </a:avLst>
          </a:prstGeom>
          <a:solidFill>
            <a:srgbClr val="3A1616"/>
          </a:solidFill>
          <a:ln w="9525">
            <a:solidFill>
              <a:srgbClr val="7F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2304288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60" b="1" i="0">
                <a:solidFill>
                  <a:srgbClr val="F8FAFC"/>
                </a:solidFill>
                <a:latin typeface="Segoe UI"/>
              </a:rPr>
              <a:t>Model hallucination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2176272"/>
            <a:ext cx="7296912" cy="713232"/>
          </a:xfrm>
          <a:prstGeom prst="roundRect">
            <a:avLst>
              <a:gd name="adj" fmla="val 3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6552" y="2286000"/>
            <a:ext cx="699516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60" b="0" i="0">
                <a:solidFill>
                  <a:srgbClr val="94A3B8"/>
                </a:solidFill>
                <a:latin typeface="Segoe UI"/>
              </a:rPr>
              <a:t>Schema-constrained JSON, repair pass, grounded RAG, and source excerpts. No invented citations.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953512"/>
            <a:ext cx="3520440" cy="713232"/>
          </a:xfrm>
          <a:prstGeom prst="roundRect">
            <a:avLst>
              <a:gd name="adj" fmla="val 3000"/>
            </a:avLst>
          </a:prstGeom>
          <a:solidFill>
            <a:srgbClr val="3A1616"/>
          </a:solidFill>
          <a:ln w="9525">
            <a:solidFill>
              <a:srgbClr val="7F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3081528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60" b="1" i="0">
                <a:solidFill>
                  <a:srgbClr val="F8FAFC"/>
                </a:solidFill>
                <a:latin typeface="Segoe UI"/>
              </a:rPr>
              <a:t>Hardware constraints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2953512"/>
            <a:ext cx="7296912" cy="713232"/>
          </a:xfrm>
          <a:prstGeom prst="roundRect">
            <a:avLst>
              <a:gd name="adj" fmla="val 3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6552" y="3063240"/>
            <a:ext cx="699516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60" b="0" i="0">
                <a:solidFill>
                  <a:srgbClr val="94A3B8"/>
                </a:solidFill>
                <a:latin typeface="Segoe UI"/>
              </a:rPr>
              <a:t>4-bit LLM, CPU-only helpers, 3 GB VRAM target, and a CPU-only profile.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30752"/>
            <a:ext cx="3520440" cy="713232"/>
          </a:xfrm>
          <a:prstGeom prst="roundRect">
            <a:avLst>
              <a:gd name="adj" fmla="val 3000"/>
            </a:avLst>
          </a:prstGeom>
          <a:solidFill>
            <a:srgbClr val="3A1616"/>
          </a:solidFill>
          <a:ln w="9525">
            <a:solidFill>
              <a:srgbClr val="7F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858768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60" b="1" i="0">
                <a:solidFill>
                  <a:srgbClr val="F8FAFC"/>
                </a:solidFill>
                <a:latin typeface="Segoe UI"/>
              </a:rPr>
              <a:t>Language quality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3730752"/>
            <a:ext cx="7296912" cy="713232"/>
          </a:xfrm>
          <a:prstGeom prst="roundRect">
            <a:avLst>
              <a:gd name="adj" fmla="val 3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16552" y="3840480"/>
            <a:ext cx="699516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60" b="0" i="0">
                <a:solidFill>
                  <a:srgbClr val="94A3B8"/>
                </a:solidFill>
                <a:latin typeface="Segoe UI"/>
              </a:rPr>
              <a:t>Math-protected translation, English fallback, human review, and a phased Telugu pack.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507992"/>
            <a:ext cx="3520440" cy="713232"/>
          </a:xfrm>
          <a:prstGeom prst="roundRect">
            <a:avLst>
              <a:gd name="adj" fmla="val 3000"/>
            </a:avLst>
          </a:prstGeom>
          <a:solidFill>
            <a:srgbClr val="3A1616"/>
          </a:solidFill>
          <a:ln w="9525">
            <a:solidFill>
              <a:srgbClr val="7F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4636007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60" b="1" i="0">
                <a:solidFill>
                  <a:srgbClr val="F8FAFC"/>
                </a:solidFill>
                <a:latin typeface="Segoe UI"/>
              </a:rPr>
              <a:t>Adoption friction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4507992"/>
            <a:ext cx="7296912" cy="713232"/>
          </a:xfrm>
          <a:prstGeom prst="roundRect">
            <a:avLst>
              <a:gd name="adj" fmla="val 3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16552" y="4617720"/>
            <a:ext cx="699516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60" b="0" i="0">
                <a:solidFill>
                  <a:srgbClr val="94A3B8"/>
                </a:solidFill>
                <a:latin typeface="Segoe UI"/>
              </a:rPr>
              <a:t>Free semester pilot, professor-in-the-loop workflow, and LMS-friendly lesson export.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285231"/>
            <a:ext cx="3520440" cy="713232"/>
          </a:xfrm>
          <a:prstGeom prst="roundRect">
            <a:avLst>
              <a:gd name="adj" fmla="val 3000"/>
            </a:avLst>
          </a:prstGeom>
          <a:solidFill>
            <a:srgbClr val="3A1616"/>
          </a:solidFill>
          <a:ln w="9525">
            <a:solidFill>
              <a:srgbClr val="7F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5413247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60" b="1" i="0">
                <a:solidFill>
                  <a:srgbClr val="F8FAFC"/>
                </a:solidFill>
                <a:latin typeface="Segoe UI"/>
              </a:rPr>
              <a:t>Content licensing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51960" y="5285231"/>
            <a:ext cx="7296912" cy="713232"/>
          </a:xfrm>
          <a:prstGeom prst="roundRect">
            <a:avLst>
              <a:gd name="adj" fmla="val 3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16552" y="5394959"/>
            <a:ext cx="6995160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60" b="0" i="0">
                <a:solidFill>
                  <a:srgbClr val="94A3B8"/>
                </a:solidFill>
                <a:latin typeface="Segoe UI"/>
              </a:rPr>
              <a:t>Professor-owned material, license-clean model stack, and no scraped content in the core demo.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108192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D4AF37"/>
                </a:solidFill>
                <a:latin typeface="Segoe UI"/>
              </a:rPr>
              <a:t>The biggest risk is not model quality. It is whether a department will change its lecture workflow.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0B981"/>
                </a:solidFill>
                <a:latin typeface="Segoe U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03504"/>
            <a:ext cx="1092708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8FAFC"/>
                </a:solidFill>
                <a:latin typeface="Segoe UI"/>
              </a:rPr>
              <a:t>Extending the professor's reach.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1417320"/>
            <a:ext cx="15544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0" y="6437376"/>
            <a:ext cx="57607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Segoe UI"/>
              </a:rPr>
              <a:t>23 / 24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881360" y="6547104"/>
            <a:ext cx="658368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437376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64748B"/>
                </a:solidFill>
                <a:latin typeface="Segoe UI"/>
              </a:rPr>
              <a:t>Prepared for institutional department pilots and university partnerships.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19072"/>
            <a:ext cx="10927080" cy="1325880"/>
          </a:xfrm>
          <a:prstGeom prst="roundRect">
            <a:avLst>
              <a:gd name="adj" fmla="val 5000"/>
            </a:avLst>
          </a:prstGeom>
          <a:solidFill>
            <a:srgbClr val="0E2A24"/>
          </a:solidFill>
          <a:ln w="1143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65376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F8FAFC"/>
                </a:solidFill>
                <a:latin typeface="Segoe UI"/>
              </a:rPr>
              <a:t>Bridge college instruction and student doubt resolution — without the cloud.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04288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60" b="0" i="0">
                <a:solidFill>
                  <a:srgbClr val="94A3B8"/>
                </a:solidFill>
                <a:latin typeface="Segoe UI"/>
              </a:rPr>
              <a:t>A local AI blackboard that preserves the professor's reasoning, not just the final answer.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10128"/>
            <a:ext cx="3520440" cy="1783080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3814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10B981"/>
                </a:solidFill>
                <a:latin typeface="Segoe U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37033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8FAFC"/>
                </a:solidFill>
                <a:latin typeface="Segoe UI"/>
              </a:rPr>
              <a:t>Solves derivation 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41648"/>
            <a:ext cx="310896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80" b="0" i="0">
                <a:solidFill>
                  <a:srgbClr val="94A3B8"/>
                </a:solidFill>
                <a:latin typeface="Segoe UI"/>
              </a:rPr>
              <a:t>Live vector build-up survives after the lecture ends, replayable step by step.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310128"/>
            <a:ext cx="3520440" cy="1783080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343814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10B981"/>
                </a:solidFill>
                <a:latin typeface="Segoe U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7033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8FAFC"/>
                </a:solidFill>
                <a:latin typeface="Segoe UI"/>
              </a:rPr>
              <a:t>Zero cloud inference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4041648"/>
            <a:ext cx="310896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80" b="0" i="0">
                <a:solidFill>
                  <a:srgbClr val="94A3B8"/>
                </a:solidFill>
                <a:latin typeface="Segoe UI"/>
              </a:rPr>
              <a:t>One department license replaces per-seat cloud billing; rewatches cost ≈ ₹0.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3310128"/>
            <a:ext cx="3520440" cy="1783080"/>
          </a:xfrm>
          <a:prstGeom prst="roundRect">
            <a:avLst>
              <a:gd name="adj" fmla="val 5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343814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10B981"/>
                </a:solidFill>
                <a:latin typeface="Segoe U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37033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8FAFC"/>
                </a:solidFill>
                <a:latin typeface="Segoe UI"/>
              </a:rPr>
              <a:t>Self-funded expansion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041648"/>
            <a:ext cx="310896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80" b="0" i="0">
                <a:solidFill>
                  <a:srgbClr val="94A3B8"/>
                </a:solidFill>
                <a:latin typeface="Segoe UI"/>
              </a:rPr>
              <a:t>College B2B profits fund the future B2C school platform.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376672"/>
            <a:ext cx="10927080" cy="530352"/>
          </a:xfrm>
          <a:prstGeom prst="roundRect">
            <a:avLst>
              <a:gd name="adj" fmla="val 20000"/>
            </a:avLst>
          </a:prstGeom>
          <a:solidFill>
            <a:srgbClr val="3A2F14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468112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80" b="1" i="0">
                <a:solidFill>
                  <a:srgbClr val="D4AF37"/>
                </a:solidFill>
                <a:latin typeface="Segoe UI"/>
              </a:rPr>
              <a:t>Prepared for institutional department pilots &amp; university partnerships.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080760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0B981"/>
                </a:solidFill>
                <a:latin typeface="Segoe UI"/>
              </a:rPr>
              <a:t>Team Kanon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0B981"/>
                </a:solidFill>
                <a:latin typeface="Segoe U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03504"/>
            <a:ext cx="1092708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8FAFC"/>
                </a:solidFill>
                <a:latin typeface="Segoe UI"/>
              </a:rPr>
              <a:t>Sources &amp; assumptions.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08792" cy="0"/>
          </a:xfrm>
          <a:prstGeom prst="line">
            <a:avLst/>
          </a:prstGeom>
          <a:ln w="12700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1417320"/>
            <a:ext cx="15544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0" y="6437376"/>
            <a:ext cx="576072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4748B"/>
                </a:solidFill>
                <a:latin typeface="Segoe UI"/>
              </a:rPr>
              <a:t>24 / 24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881360" y="6547104"/>
            <a:ext cx="658368" cy="0"/>
          </a:xfrm>
          <a:prstGeom prst="line">
            <a:avLst/>
          </a:prstGeom>
          <a:ln w="9525">
            <a:solidFill>
              <a:srgbClr val="1E29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6437376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64748B"/>
                </a:solidFill>
                <a:latin typeface="Segoe UI"/>
              </a:rPr>
              <a:t>Citations are listed by source name and date. No contact details or social links are included anywhere in this deck.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0B981"/>
                </a:solidFill>
                <a:latin typeface="Segoe UI"/>
              </a:rPr>
              <a:t>SOURCES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21408"/>
            <a:ext cx="68580" cy="685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048256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F8FAFC"/>
                </a:solidFill>
                <a:latin typeface="Segoe UI"/>
              </a:rPr>
              <a:t>UDISE+ 2025–26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27685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94A3B8"/>
                </a:solidFill>
                <a:latin typeface="Segoe UI"/>
              </a:rPr>
              <a:t>Ministry of Education / PIB summary (PRID=2300408)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779776"/>
            <a:ext cx="68580" cy="685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706624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F8FAFC"/>
                </a:solidFill>
                <a:latin typeface="Segoe UI"/>
              </a:rPr>
              <a:t>UDISE+ 2025–26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293522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94A3B8"/>
                </a:solidFill>
                <a:latin typeface="Segoe UI"/>
              </a:rPr>
              <a:t>NIEPA Analysis Table 2.5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38144"/>
            <a:ext cx="68580" cy="685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364992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F8FAFC"/>
                </a:solidFill>
                <a:latin typeface="Segoe UI"/>
              </a:rPr>
              <a:t>ITU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59359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94A3B8"/>
                </a:solidFill>
                <a:latin typeface="Segoe UI"/>
              </a:rPr>
              <a:t>Facts and Figures, 27 Nov 2024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096512"/>
            <a:ext cx="68580" cy="685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023360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F8FAFC"/>
                </a:solidFill>
                <a:latin typeface="Segoe UI"/>
              </a:rPr>
              <a:t>Mordor 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42519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94A3B8"/>
                </a:solidFill>
                <a:latin typeface="Segoe UI"/>
              </a:rPr>
              <a:t>AI in Education Report 2025–2030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754880"/>
            <a:ext cx="68580" cy="685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4681728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F8FAFC"/>
                </a:solidFill>
                <a:latin typeface="Segoe UI"/>
              </a:rPr>
              <a:t>IAMAI–Grant Thornton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91032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94A3B8"/>
                </a:solidFill>
                <a:latin typeface="Segoe UI"/>
              </a:rPr>
              <a:t>India EdTech Report, Jan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8" y="1737360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19" b="1" i="0">
                <a:solidFill>
                  <a:srgbClr val="10B981"/>
                </a:solidFill>
                <a:latin typeface="Segoe UI"/>
              </a:rPr>
              <a:t>SOURCES (CONTINUED)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2121408"/>
            <a:ext cx="68580" cy="685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2048256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F8FAFC"/>
                </a:solidFill>
                <a:latin typeface="Segoe UI"/>
              </a:rPr>
              <a:t>Grand View Research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227685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94A3B8"/>
                </a:solidFill>
                <a:latin typeface="Segoe UI"/>
              </a:rPr>
              <a:t>AI in Education forecast, 2030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36208" y="2779776"/>
            <a:ext cx="68580" cy="685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2706624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F8FAFC"/>
                </a:solidFill>
                <a:latin typeface="Segoe UI"/>
              </a:rPr>
              <a:t>MarketsandMarkets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2935224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94A3B8"/>
                </a:solidFill>
                <a:latin typeface="Segoe UI"/>
              </a:rPr>
              <a:t>AI in Education forecast, Oct 2026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36208" y="3438144"/>
            <a:ext cx="68580" cy="685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3364992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F8FAFC"/>
                </a:solidFill>
                <a:latin typeface="Segoe UI"/>
              </a:rPr>
              <a:t>Khanmigo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359359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94A3B8"/>
                </a:solidFill>
                <a:latin typeface="Segoe UI"/>
              </a:rPr>
              <a:t>Public pricing page, Oct 2026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36208" y="4096512"/>
            <a:ext cx="68580" cy="685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4023360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F8FAFC"/>
                </a:solidFill>
                <a:latin typeface="Segoe UI"/>
              </a:rPr>
              <a:t>Learning Equality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42519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94A3B8"/>
                </a:solidFill>
                <a:latin typeface="Segoe UI"/>
              </a:rPr>
              <a:t>Kolibri / UNDP Digital X Catalogue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4754880"/>
            <a:ext cx="68580" cy="685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4681728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F8FAFC"/>
                </a:solidFill>
                <a:latin typeface="Segoe UI"/>
              </a:rPr>
              <a:t>DIKSHA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9088" y="491032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94A3B8"/>
                </a:solidFill>
                <a:latin typeface="Segoe UI"/>
              </a:rPr>
              <a:t>Ministry of Education public portal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5349240"/>
            <a:ext cx="10927080" cy="868680"/>
          </a:xfrm>
          <a:prstGeom prst="roundRect">
            <a:avLst>
              <a:gd name="adj" fmla="val 4000"/>
            </a:avLst>
          </a:prstGeom>
          <a:solidFill>
            <a:srgbClr val="1320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449824"/>
            <a:ext cx="104241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D4AF37"/>
                </a:solidFill>
                <a:latin typeface="Segoe UI"/>
              </a:rPr>
              <a:t>KEY ASSUMPTIONS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5669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94A3B8"/>
                </a:solidFill>
                <a:latin typeface="Segoe UI"/>
              </a:rPr>
              <a:t>240 students per department  •  ₹1,00,000 annual license  •  $20/seat/month cloud comparison  •  $1 ≈ ₹83  •  pilot metrics to be validated.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